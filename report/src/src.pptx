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64" r:id="rId5"/>
    <p:sldId id="265" r:id="rId6"/>
    <p:sldId id="258" r:id="rId7"/>
    <p:sldId id="261" r:id="rId8"/>
    <p:sldId id="262" r:id="rId9"/>
    <p:sldId id="263" r:id="rId10"/>
    <p:sldId id="259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766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0191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681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8847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640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1946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690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693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961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8344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424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19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A1D28FA6-81F6-5D7E-3E64-C9F79F795ACE}"/>
              </a:ext>
            </a:extLst>
          </p:cNvPr>
          <p:cNvSpPr/>
          <p:nvPr/>
        </p:nvSpPr>
        <p:spPr>
          <a:xfrm>
            <a:off x="227063" y="210137"/>
            <a:ext cx="3134822" cy="69317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joint_state_publisher_gui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发布关节状态 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403ACB7D-AF81-5BEF-D564-3A9C1BE9C4D0}"/>
              </a:ext>
            </a:extLst>
          </p:cNvPr>
          <p:cNvSpPr/>
          <p:nvPr/>
        </p:nvSpPr>
        <p:spPr>
          <a:xfrm>
            <a:off x="227065" y="1237381"/>
            <a:ext cx="3145094" cy="69317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类型：</a:t>
            </a:r>
            <a:r>
              <a:rPr lang="en-US" altLang="zh-CN" sz="1013" b="1" dirty="0" err="1">
                <a:solidFill>
                  <a:schemeClr val="tx1"/>
                </a:solidFill>
              </a:rPr>
              <a:t>sensor_msgs</a:t>
            </a:r>
            <a:r>
              <a:rPr lang="en-US" altLang="zh-CN" sz="1013" b="1" dirty="0">
                <a:solidFill>
                  <a:schemeClr val="tx1"/>
                </a:solidFill>
              </a:rPr>
              <a:t>/msg/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JointState</a:t>
            </a:r>
            <a:r>
              <a:rPr lang="en-US" altLang="zh-CN" sz="1013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561C7E29-2CD1-97E3-2266-FC3142A7D398}"/>
              </a:ext>
            </a:extLst>
          </p:cNvPr>
          <p:cNvSpPr/>
          <p:nvPr/>
        </p:nvSpPr>
        <p:spPr>
          <a:xfrm>
            <a:off x="227065" y="2264624"/>
            <a:ext cx="3134820" cy="69317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根据关节状态计算 </a:t>
            </a:r>
            <a:r>
              <a:rPr lang="en-US" altLang="zh-CN" sz="1013" b="1" dirty="0">
                <a:solidFill>
                  <a:schemeClr val="tx1"/>
                </a:solidFill>
              </a:rPr>
              <a:t>TF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463E8A51-A812-F025-CEE5-423181715F6E}"/>
              </a:ext>
            </a:extLst>
          </p:cNvPr>
          <p:cNvSpPr/>
          <p:nvPr/>
        </p:nvSpPr>
        <p:spPr>
          <a:xfrm>
            <a:off x="227066" y="3304385"/>
            <a:ext cx="3134819" cy="69317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tf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类型：</a:t>
            </a:r>
            <a:r>
              <a:rPr lang="en-US" altLang="zh-CN" sz="1013" b="1" dirty="0">
                <a:solidFill>
                  <a:schemeClr val="tx1"/>
                </a:solidFill>
              </a:rPr>
              <a:t>tf2_msgs/msg/</a:t>
            </a:r>
            <a:r>
              <a:rPr lang="en-US" altLang="zh-CN" sz="1013" b="1" dirty="0" err="1">
                <a:solidFill>
                  <a:schemeClr val="tx1"/>
                </a:solidFill>
              </a:rPr>
              <a:t>TFMessage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1E0B39BA-5EF3-5309-0997-D132CD7EC168}"/>
              </a:ext>
            </a:extLst>
          </p:cNvPr>
          <p:cNvSpPr/>
          <p:nvPr/>
        </p:nvSpPr>
        <p:spPr>
          <a:xfrm>
            <a:off x="227072" y="4343867"/>
            <a:ext cx="3134813" cy="69317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显示机械臂姿态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7A40787-9B14-5363-41AB-1866AA7E902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794476" y="3997559"/>
            <a:ext cx="3" cy="3463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54A0608-B84B-DCE6-2D9B-44D84855057C}"/>
              </a:ext>
            </a:extLst>
          </p:cNvPr>
          <p:cNvSpPr txBox="1"/>
          <p:nvPr/>
        </p:nvSpPr>
        <p:spPr>
          <a:xfrm>
            <a:off x="1863801" y="925588"/>
            <a:ext cx="106311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发布 </a:t>
            </a:r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BF744E0-A78A-3FF0-EB8A-AC6A5B67D96A}"/>
              </a:ext>
            </a:extLst>
          </p:cNvPr>
          <p:cNvSpPr txBox="1"/>
          <p:nvPr/>
        </p:nvSpPr>
        <p:spPr>
          <a:xfrm>
            <a:off x="1863801" y="1941420"/>
            <a:ext cx="44435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订阅</a:t>
            </a:r>
            <a:endParaRPr lang="en-US" altLang="zh-CN" sz="1013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187045C-FC58-D9FC-AD3A-2F348AB87C71}"/>
              </a:ext>
            </a:extLst>
          </p:cNvPr>
          <p:cNvSpPr txBox="1"/>
          <p:nvPr/>
        </p:nvSpPr>
        <p:spPr>
          <a:xfrm>
            <a:off x="1863801" y="3004005"/>
            <a:ext cx="617477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发布 </a:t>
            </a:r>
            <a:r>
              <a:rPr lang="en-US" altLang="zh-CN" sz="1013" b="1" dirty="0"/>
              <a:t>TF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D67406C-6852-EB7B-BCBF-7096D23AEAD2}"/>
              </a:ext>
            </a:extLst>
          </p:cNvPr>
          <p:cNvSpPr txBox="1"/>
          <p:nvPr/>
        </p:nvSpPr>
        <p:spPr>
          <a:xfrm>
            <a:off x="1838962" y="4020663"/>
            <a:ext cx="44435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订阅</a:t>
            </a:r>
            <a:endParaRPr lang="en-US" altLang="zh-CN" sz="1013" b="1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7FC2D14-44DE-102F-2842-80B9BFCB39D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4475" y="2957798"/>
            <a:ext cx="1" cy="34658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EB8374E7-407C-EF0A-FF67-0F7C3710139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4475" y="1930555"/>
            <a:ext cx="5137" cy="3340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F9A3DA29-79F2-C557-D012-E2571E8D0B90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794474" y="903311"/>
            <a:ext cx="5138" cy="3340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箭头: 左 86">
            <a:extLst>
              <a:ext uri="{FF2B5EF4-FFF2-40B4-BE49-F238E27FC236}">
                <a16:creationId xmlns:a16="http://schemas.microsoft.com/office/drawing/2014/main" id="{5885161F-786F-36A7-3875-447F7E0CEC9A}"/>
              </a:ext>
            </a:extLst>
          </p:cNvPr>
          <p:cNvSpPr/>
          <p:nvPr/>
        </p:nvSpPr>
        <p:spPr>
          <a:xfrm>
            <a:off x="3361886" y="1306320"/>
            <a:ext cx="1460838" cy="567813"/>
          </a:xfrm>
          <a:prstGeom prst="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rgbClr val="FF0000"/>
                </a:solidFill>
              </a:rPr>
              <a:t>关键攻击面</a:t>
            </a:r>
          </a:p>
        </p:txBody>
      </p:sp>
    </p:spTree>
    <p:extLst>
      <p:ext uri="{BB962C8B-B14F-4D97-AF65-F5344CB8AC3E}">
        <p14:creationId xmlns:p14="http://schemas.microsoft.com/office/powerpoint/2010/main" val="3018635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F48CA-1256-7E27-165C-3781474EF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7692683-D935-9909-373B-CBBE80C41550}"/>
              </a:ext>
            </a:extLst>
          </p:cNvPr>
          <p:cNvSpPr/>
          <p:nvPr/>
        </p:nvSpPr>
        <p:spPr>
          <a:xfrm>
            <a:off x="144097" y="1412487"/>
            <a:ext cx="1060236" cy="157064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事实输入层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Facts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主机</a:t>
            </a:r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zh-CN" altLang="en-US" sz="1013" b="1" dirty="0">
                <a:solidFill>
                  <a:schemeClr val="tx1"/>
                </a:solidFill>
              </a:rPr>
              <a:t>节点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topic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发布订阅关系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消息类型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攻击者能力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3E737F89-BF41-B1A8-1E55-6786A212B3F1}"/>
              </a:ext>
            </a:extLst>
          </p:cNvPr>
          <p:cNvSpPr/>
          <p:nvPr/>
        </p:nvSpPr>
        <p:spPr>
          <a:xfrm>
            <a:off x="1915441" y="1412487"/>
            <a:ext cx="1060236" cy="157064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规则推理层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Rules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枚举</a:t>
            </a:r>
            <a:r>
              <a:rPr lang="en-US" altLang="zh-CN" sz="1013" b="1" dirty="0">
                <a:solidFill>
                  <a:schemeClr val="tx1"/>
                </a:solidFill>
              </a:rPr>
              <a:t>topic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学习消息结构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伪造状态消息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状态传播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竞争性发布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72BC2A6B-8796-7869-2EF1-7251FF845F07}"/>
              </a:ext>
            </a:extLst>
          </p:cNvPr>
          <p:cNvSpPr/>
          <p:nvPr/>
        </p:nvSpPr>
        <p:spPr>
          <a:xfrm>
            <a:off x="3686785" y="1412487"/>
            <a:ext cx="1060236" cy="157064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攻击链查询层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Queries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misleadPose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oscillating...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physical...</a:t>
            </a:r>
          </a:p>
        </p:txBody>
      </p: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0B1E67A9-48FD-EAFB-8BAE-AF0AD0967251}"/>
              </a:ext>
            </a:extLst>
          </p:cNvPr>
          <p:cNvSpPr/>
          <p:nvPr/>
        </p:nvSpPr>
        <p:spPr>
          <a:xfrm>
            <a:off x="5516031" y="1423250"/>
            <a:ext cx="1060236" cy="157064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策略判断层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Policy Violation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publish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destabilize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influence</a:t>
            </a: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5D644D2E-5F4E-A55D-BEED-33DE65259603}"/>
              </a:ext>
            </a:extLst>
          </p:cNvPr>
          <p:cNvSpPr/>
          <p:nvPr/>
        </p:nvSpPr>
        <p:spPr>
          <a:xfrm>
            <a:off x="7477779" y="1412487"/>
            <a:ext cx="1190436" cy="1570644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防护对照层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Defense Compare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topicAuth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publisherACL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defenseEff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04165B2-CA32-369C-D31F-E62628887ADE}"/>
              </a:ext>
            </a:extLst>
          </p:cNvPr>
          <p:cNvCxnSpPr>
            <a:stCxn id="2" idx="3"/>
            <a:endCxn id="7" idx="1"/>
          </p:cNvCxnSpPr>
          <p:nvPr/>
        </p:nvCxnSpPr>
        <p:spPr>
          <a:xfrm>
            <a:off x="1204333" y="2197809"/>
            <a:ext cx="71110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797336E-7BE0-8F38-6A39-D630D6A8FFB6}"/>
              </a:ext>
            </a:extLst>
          </p:cNvPr>
          <p:cNvSpPr txBox="1"/>
          <p:nvPr/>
        </p:nvSpPr>
        <p:spPr>
          <a:xfrm>
            <a:off x="1201570" y="1951588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规则建模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83191EB-9558-588F-F7D8-BAD48434EEA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2975677" y="2197809"/>
            <a:ext cx="71110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71E39AB2-9EAB-3AF1-7D48-4EEB820DD1B1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747021" y="2197809"/>
            <a:ext cx="769010" cy="107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3489791-FB40-EBFB-80C9-0C0347AFC9E2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6576267" y="2197809"/>
            <a:ext cx="901512" cy="107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89D9DBB-A7FD-7AB6-34B9-E3F93DCEB22C}"/>
              </a:ext>
            </a:extLst>
          </p:cNvPr>
          <p:cNvSpPr txBox="1"/>
          <p:nvPr/>
        </p:nvSpPr>
        <p:spPr>
          <a:xfrm>
            <a:off x="2975677" y="1951587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推理得到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E2BBCDB-7411-CC22-C346-C20D5A170831}"/>
              </a:ext>
            </a:extLst>
          </p:cNvPr>
          <p:cNvSpPr txBox="1"/>
          <p:nvPr/>
        </p:nvSpPr>
        <p:spPr>
          <a:xfrm>
            <a:off x="4747021" y="1955547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进一步判断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0C0624B-5DBA-3A09-3DB8-8C2D47BD8FBA}"/>
              </a:ext>
            </a:extLst>
          </p:cNvPr>
          <p:cNvSpPr txBox="1"/>
          <p:nvPr/>
        </p:nvSpPr>
        <p:spPr>
          <a:xfrm>
            <a:off x="6542755" y="1951586"/>
            <a:ext cx="9685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加入防护条件</a:t>
            </a:r>
          </a:p>
        </p:txBody>
      </p:sp>
    </p:spTree>
    <p:extLst>
      <p:ext uri="{BB962C8B-B14F-4D97-AF65-F5344CB8AC3E}">
        <p14:creationId xmlns:p14="http://schemas.microsoft.com/office/powerpoint/2010/main" val="1206478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FDF8-E144-A174-B1CB-AD6BBB2C6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AEC95FE3-5A72-1DF5-A65B-26B404C948F4}"/>
              </a:ext>
            </a:extLst>
          </p:cNvPr>
          <p:cNvSpPr/>
          <p:nvPr/>
        </p:nvSpPr>
        <p:spPr>
          <a:xfrm>
            <a:off x="308343" y="971105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joint_state_publisher_gui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BD9C860D-1E9B-7A53-9E7C-404A98C0ACD9}"/>
              </a:ext>
            </a:extLst>
          </p:cNvPr>
          <p:cNvSpPr/>
          <p:nvPr/>
        </p:nvSpPr>
        <p:spPr>
          <a:xfrm>
            <a:off x="2645145" y="971105"/>
            <a:ext cx="1926855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614F555-203F-9312-81D5-F3231C2E8F68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4598633" y="1687894"/>
            <a:ext cx="482741" cy="1916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4F91142-D333-4A5A-7CFE-93FD6B390373}"/>
              </a:ext>
            </a:extLst>
          </p:cNvPr>
          <p:cNvSpPr txBox="1"/>
          <p:nvPr/>
        </p:nvSpPr>
        <p:spPr>
          <a:xfrm>
            <a:off x="417563" y="462286"/>
            <a:ext cx="574196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未防护</a:t>
            </a:r>
            <a:endParaRPr lang="en-US" altLang="zh-CN" sz="1013" b="1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4EA88817-AED2-31CD-27CE-F26496C5E4C5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flipH="1">
            <a:off x="3635206" y="1211706"/>
            <a:ext cx="2382964" cy="3654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43D4C473-B85B-7024-9D3E-9333A4EE351D}"/>
              </a:ext>
            </a:extLst>
          </p:cNvPr>
          <p:cNvCxnSpPr>
            <a:cxnSpLocks/>
            <a:stCxn id="5" idx="3"/>
            <a:endCxn id="20" idx="1"/>
          </p:cNvCxnSpPr>
          <p:nvPr/>
        </p:nvCxnSpPr>
        <p:spPr>
          <a:xfrm flipV="1">
            <a:off x="4572000" y="1087602"/>
            <a:ext cx="482741" cy="133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92E07893-9D6E-EAE5-BBD1-19B8B14DABD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235200" y="1095210"/>
            <a:ext cx="409945" cy="57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4A8841A-7F3D-C1E8-C5F1-50C43B288767}"/>
              </a:ext>
            </a:extLst>
          </p:cNvPr>
          <p:cNvSpPr/>
          <p:nvPr/>
        </p:nvSpPr>
        <p:spPr>
          <a:xfrm>
            <a:off x="5054741" y="96349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FA5228B8-5EFA-ADFC-35B1-4CACE4B61FD0}"/>
              </a:ext>
            </a:extLst>
          </p:cNvPr>
          <p:cNvSpPr/>
          <p:nvPr/>
        </p:nvSpPr>
        <p:spPr>
          <a:xfrm>
            <a:off x="2671778" y="1577174"/>
            <a:ext cx="1926855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tf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1F45CCC7-FC3F-DB34-BE35-3D1DD223A57F}"/>
              </a:ext>
            </a:extLst>
          </p:cNvPr>
          <p:cNvSpPr/>
          <p:nvPr/>
        </p:nvSpPr>
        <p:spPr>
          <a:xfrm>
            <a:off x="5081374" y="1563789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4" name="标注: 上箭头 43">
            <a:extLst>
              <a:ext uri="{FF2B5EF4-FFF2-40B4-BE49-F238E27FC236}">
                <a16:creationId xmlns:a16="http://schemas.microsoft.com/office/drawing/2014/main" id="{ACD65D1B-7500-AA5D-7135-3D660D873409}"/>
              </a:ext>
            </a:extLst>
          </p:cNvPr>
          <p:cNvSpPr/>
          <p:nvPr/>
        </p:nvSpPr>
        <p:spPr>
          <a:xfrm>
            <a:off x="596951" y="1236160"/>
            <a:ext cx="1349640" cy="312615"/>
          </a:xfrm>
          <a:prstGeom prst="up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攻击者（同域接入）</a:t>
            </a:r>
          </a:p>
        </p:txBody>
      </p:sp>
      <p:sp>
        <p:nvSpPr>
          <p:cNvPr id="45" name="标注: 下箭头 44">
            <a:extLst>
              <a:ext uri="{FF2B5EF4-FFF2-40B4-BE49-F238E27FC236}">
                <a16:creationId xmlns:a16="http://schemas.microsoft.com/office/drawing/2014/main" id="{43ABEF3C-EE04-D176-F4E7-D05392873078}"/>
              </a:ext>
            </a:extLst>
          </p:cNvPr>
          <p:cNvSpPr/>
          <p:nvPr/>
        </p:nvSpPr>
        <p:spPr>
          <a:xfrm>
            <a:off x="2803427" y="578782"/>
            <a:ext cx="1607820" cy="377107"/>
          </a:xfrm>
          <a:prstGeom prst="down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恶意消息可直接注入</a:t>
            </a:r>
          </a:p>
        </p:txBody>
      </p: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8F53B5A5-EEBC-2190-F666-8847431EC1E6}"/>
              </a:ext>
            </a:extLst>
          </p:cNvPr>
          <p:cNvSpPr/>
          <p:nvPr/>
        </p:nvSpPr>
        <p:spPr>
          <a:xfrm>
            <a:off x="308343" y="298865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joint_state_publisher_gui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040E25D4-8320-E2D1-3788-BF21D0263DAD}"/>
              </a:ext>
            </a:extLst>
          </p:cNvPr>
          <p:cNvSpPr/>
          <p:nvPr/>
        </p:nvSpPr>
        <p:spPr>
          <a:xfrm>
            <a:off x="2645145" y="2988657"/>
            <a:ext cx="2120987" cy="259761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/_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joint_states_authorized_source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9CED46B-F5D6-F5C9-7BC2-3229B084E30B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645871" y="4270764"/>
            <a:ext cx="483817" cy="1464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2EAAD0B2-5262-25BE-7EE0-71F621799D92}"/>
              </a:ext>
            </a:extLst>
          </p:cNvPr>
          <p:cNvSpPr txBox="1"/>
          <p:nvPr/>
        </p:nvSpPr>
        <p:spPr>
          <a:xfrm>
            <a:off x="417563" y="2479838"/>
            <a:ext cx="574196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防护后</a:t>
            </a:r>
            <a:endParaRPr lang="en-US" altLang="zh-CN" sz="1013" b="1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36808DC-A3E9-15E6-746F-EA82FA5E1154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2235199" y="4249181"/>
            <a:ext cx="483817" cy="362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FDA6F126-30A0-F6B1-7FD6-3A923C252900}"/>
              </a:ext>
            </a:extLst>
          </p:cNvPr>
          <p:cNvCxnSpPr>
            <a:cxnSpLocks/>
            <a:stCxn id="47" idx="3"/>
            <a:endCxn id="60" idx="1"/>
          </p:cNvCxnSpPr>
          <p:nvPr/>
        </p:nvCxnSpPr>
        <p:spPr>
          <a:xfrm>
            <a:off x="4766132" y="3118538"/>
            <a:ext cx="409945" cy="57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15FD62E2-627F-5BFC-5123-EE5359225E5B}"/>
              </a:ext>
            </a:extLst>
          </p:cNvPr>
          <p:cNvCxnSpPr>
            <a:cxnSpLocks/>
            <a:stCxn id="46" idx="3"/>
            <a:endCxn id="47" idx="1"/>
          </p:cNvCxnSpPr>
          <p:nvPr/>
        </p:nvCxnSpPr>
        <p:spPr>
          <a:xfrm>
            <a:off x="2235200" y="3112762"/>
            <a:ext cx="409945" cy="57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3ABA17EA-5D60-1573-C987-59C92E658B7C}"/>
              </a:ext>
            </a:extLst>
          </p:cNvPr>
          <p:cNvSpPr/>
          <p:nvPr/>
        </p:nvSpPr>
        <p:spPr>
          <a:xfrm>
            <a:off x="308342" y="4125076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4" name="流程图: 过程 53">
            <a:extLst>
              <a:ext uri="{FF2B5EF4-FFF2-40B4-BE49-F238E27FC236}">
                <a16:creationId xmlns:a16="http://schemas.microsoft.com/office/drawing/2014/main" id="{57206966-202E-3B1D-3C16-FD7D831F7231}"/>
              </a:ext>
            </a:extLst>
          </p:cNvPr>
          <p:cNvSpPr/>
          <p:nvPr/>
        </p:nvSpPr>
        <p:spPr>
          <a:xfrm>
            <a:off x="2719016" y="4155527"/>
            <a:ext cx="1926855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tf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3E47B52E-3886-2D65-32C3-0BBE62DA673F}"/>
              </a:ext>
            </a:extLst>
          </p:cNvPr>
          <p:cNvSpPr/>
          <p:nvPr/>
        </p:nvSpPr>
        <p:spPr>
          <a:xfrm>
            <a:off x="5129688" y="4146659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6" name="标注: 上箭头 55">
            <a:extLst>
              <a:ext uri="{FF2B5EF4-FFF2-40B4-BE49-F238E27FC236}">
                <a16:creationId xmlns:a16="http://schemas.microsoft.com/office/drawing/2014/main" id="{4AD8EE8F-EB9B-2358-7736-916E08E011B9}"/>
              </a:ext>
            </a:extLst>
          </p:cNvPr>
          <p:cNvSpPr/>
          <p:nvPr/>
        </p:nvSpPr>
        <p:spPr>
          <a:xfrm>
            <a:off x="596951" y="3253712"/>
            <a:ext cx="1349640" cy="312615"/>
          </a:xfrm>
          <a:prstGeom prst="up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攻击者（同域接入）</a:t>
            </a:r>
          </a:p>
        </p:txBody>
      </p:sp>
      <p:sp>
        <p:nvSpPr>
          <p:cNvPr id="60" name="流程图: 过程 59">
            <a:extLst>
              <a:ext uri="{FF2B5EF4-FFF2-40B4-BE49-F238E27FC236}">
                <a16:creationId xmlns:a16="http://schemas.microsoft.com/office/drawing/2014/main" id="{AA6C68BE-8B12-4FCB-B814-6945DABBF918}"/>
              </a:ext>
            </a:extLst>
          </p:cNvPr>
          <p:cNvSpPr/>
          <p:nvPr/>
        </p:nvSpPr>
        <p:spPr>
          <a:xfrm>
            <a:off x="5176077" y="3000209"/>
            <a:ext cx="1926857" cy="248209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trusted_joint_state_filter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903EA756-103C-D818-233F-17912F114D3D}"/>
              </a:ext>
            </a:extLst>
          </p:cNvPr>
          <p:cNvSpPr/>
          <p:nvPr/>
        </p:nvSpPr>
        <p:spPr>
          <a:xfrm>
            <a:off x="2703372" y="3578525"/>
            <a:ext cx="2120987" cy="259761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/_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joint_states_trusted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F28FA7B-45A9-0B69-83EA-E37ABA9C65A8}"/>
              </a:ext>
            </a:extLst>
          </p:cNvPr>
          <p:cNvCxnSpPr>
            <a:cxnSpLocks/>
            <a:stCxn id="60" idx="2"/>
            <a:endCxn id="65" idx="3"/>
          </p:cNvCxnSpPr>
          <p:nvPr/>
        </p:nvCxnSpPr>
        <p:spPr>
          <a:xfrm flipH="1">
            <a:off x="4824359" y="3248418"/>
            <a:ext cx="1315147" cy="45998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6B33A9D-58E6-58B6-2C6D-F3D2ECA9F5DE}"/>
              </a:ext>
            </a:extLst>
          </p:cNvPr>
          <p:cNvCxnSpPr>
            <a:cxnSpLocks/>
            <a:stCxn id="65" idx="1"/>
            <a:endCxn id="53" idx="0"/>
          </p:cNvCxnSpPr>
          <p:nvPr/>
        </p:nvCxnSpPr>
        <p:spPr>
          <a:xfrm flipH="1">
            <a:off x="1271771" y="3708406"/>
            <a:ext cx="1431601" cy="4166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标注: 下箭头 95">
            <a:extLst>
              <a:ext uri="{FF2B5EF4-FFF2-40B4-BE49-F238E27FC236}">
                <a16:creationId xmlns:a16="http://schemas.microsoft.com/office/drawing/2014/main" id="{FA101C5E-2AF6-F20A-2DE6-E649E3029E8A}"/>
              </a:ext>
            </a:extLst>
          </p:cNvPr>
          <p:cNvSpPr/>
          <p:nvPr/>
        </p:nvSpPr>
        <p:spPr>
          <a:xfrm>
            <a:off x="5335595" y="2621611"/>
            <a:ext cx="1607820" cy="377107"/>
          </a:xfrm>
          <a:prstGeom prst="down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>
                <a:solidFill>
                  <a:schemeClr val="tx1"/>
                </a:solidFill>
              </a:rPr>
              <a:t>可信过滤边界</a:t>
            </a:r>
            <a:endParaRPr lang="zh-CN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497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B8F88-7E9F-7AEC-4FDB-8AAC5AF22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2058943B-8232-E4A7-BB43-C025C4BFB99C}"/>
              </a:ext>
            </a:extLst>
          </p:cNvPr>
          <p:cNvSpPr/>
          <p:nvPr/>
        </p:nvSpPr>
        <p:spPr>
          <a:xfrm>
            <a:off x="1602363" y="957719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ROS2</a:t>
            </a:r>
            <a:r>
              <a:rPr lang="zh-CN" altLang="en-US" sz="1013" b="1" dirty="0">
                <a:solidFill>
                  <a:schemeClr val="tx1"/>
                </a:solidFill>
              </a:rPr>
              <a:t>发现</a:t>
            </a:r>
            <a:r>
              <a:rPr lang="en-US" altLang="zh-CN" sz="1013" b="1" dirty="0">
                <a:solidFill>
                  <a:schemeClr val="tx1"/>
                </a:solidFill>
              </a:rPr>
              <a:t>/CLI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F5E7F9AF-D918-D52E-8CA9-FA322412B369}"/>
              </a:ext>
            </a:extLst>
          </p:cNvPr>
          <p:cNvSpPr/>
          <p:nvPr/>
        </p:nvSpPr>
        <p:spPr>
          <a:xfrm>
            <a:off x="3386388" y="946166"/>
            <a:ext cx="1185612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C7452DF6-34A0-7E87-4245-2F8BA59BC3D4}"/>
              </a:ext>
            </a:extLst>
          </p:cNvPr>
          <p:cNvSpPr/>
          <p:nvPr/>
        </p:nvSpPr>
        <p:spPr>
          <a:xfrm>
            <a:off x="5054741" y="96349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B3D28377-D476-0534-12FA-09289282C1EE}"/>
              </a:ext>
            </a:extLst>
          </p:cNvPr>
          <p:cNvSpPr/>
          <p:nvPr/>
        </p:nvSpPr>
        <p:spPr>
          <a:xfrm>
            <a:off x="413168" y="951942"/>
            <a:ext cx="836152" cy="259761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攻击者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91EF29F2-A9E4-547B-8656-D2B3ED92C50F}"/>
              </a:ext>
            </a:extLst>
          </p:cNvPr>
          <p:cNvSpPr/>
          <p:nvPr/>
        </p:nvSpPr>
        <p:spPr>
          <a:xfrm>
            <a:off x="7464339" y="963496"/>
            <a:ext cx="1185611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8BE2243-EF97-76C5-C2DF-23DE74711024}"/>
              </a:ext>
            </a:extLst>
          </p:cNvPr>
          <p:cNvCxnSpPr>
            <a:stCxn id="21" idx="2"/>
          </p:cNvCxnSpPr>
          <p:nvPr/>
        </p:nvCxnSpPr>
        <p:spPr>
          <a:xfrm>
            <a:off x="831244" y="1211703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DDD8F87-D6F2-A52A-0AC5-D8D38E7E27DB}"/>
              </a:ext>
            </a:extLst>
          </p:cNvPr>
          <p:cNvCxnSpPr/>
          <p:nvPr/>
        </p:nvCxnSpPr>
        <p:spPr>
          <a:xfrm>
            <a:off x="2162402" y="1205928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7642527-74E3-5D73-7510-3028C3647BA9}"/>
              </a:ext>
            </a:extLst>
          </p:cNvPr>
          <p:cNvCxnSpPr/>
          <p:nvPr/>
        </p:nvCxnSpPr>
        <p:spPr>
          <a:xfrm>
            <a:off x="3988965" y="1205927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1601A2C-FC3C-7EEE-CC18-3A73C5E8E74F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6018170" y="1211706"/>
            <a:ext cx="0" cy="3540372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9A2F24-CD25-558D-14E6-E441485961C2}"/>
              </a:ext>
            </a:extLst>
          </p:cNvPr>
          <p:cNvCxnSpPr/>
          <p:nvPr/>
        </p:nvCxnSpPr>
        <p:spPr>
          <a:xfrm>
            <a:off x="8057144" y="1205927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EA1A64BF-0603-205D-5EB0-B8CE50235296}"/>
              </a:ext>
            </a:extLst>
          </p:cNvPr>
          <p:cNvCxnSpPr/>
          <p:nvPr/>
        </p:nvCxnSpPr>
        <p:spPr>
          <a:xfrm>
            <a:off x="824848" y="1465688"/>
            <a:ext cx="133115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06F288E-709B-AA42-E0A0-4A4594F04BDC}"/>
              </a:ext>
            </a:extLst>
          </p:cNvPr>
          <p:cNvSpPr txBox="1"/>
          <p:nvPr/>
        </p:nvSpPr>
        <p:spPr>
          <a:xfrm>
            <a:off x="1060178" y="1217479"/>
            <a:ext cx="734496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13" b="1" dirty="0"/>
              <a:t>Topic</a:t>
            </a:r>
            <a:r>
              <a:rPr lang="zh-CN" altLang="en-US" sz="1013" b="1" dirty="0"/>
              <a:t>枚举</a:t>
            </a:r>
            <a:endParaRPr lang="en-US" altLang="zh-CN" sz="1013" b="1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E2E97F4-09B9-63BB-AD87-78E0B721CA00}"/>
              </a:ext>
            </a:extLst>
          </p:cNvPr>
          <p:cNvSpPr txBox="1"/>
          <p:nvPr/>
        </p:nvSpPr>
        <p:spPr>
          <a:xfrm>
            <a:off x="1035247" y="1596624"/>
            <a:ext cx="974947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识别目标</a:t>
            </a:r>
            <a:r>
              <a:rPr lang="en-US" altLang="zh-CN" sz="1013" b="1" dirty="0"/>
              <a:t>topic</a:t>
            </a: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B214CAA-D45C-6588-DDCD-6C930D2FB432}"/>
              </a:ext>
            </a:extLst>
          </p:cNvPr>
          <p:cNvCxnSpPr>
            <a:cxnSpLocks/>
          </p:cNvCxnSpPr>
          <p:nvPr/>
        </p:nvCxnSpPr>
        <p:spPr>
          <a:xfrm flipH="1">
            <a:off x="771874" y="1839649"/>
            <a:ext cx="138413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7C61E4C0-2EE6-4126-D851-D11A16273951}"/>
              </a:ext>
            </a:extLst>
          </p:cNvPr>
          <p:cNvCxnSpPr/>
          <p:nvPr/>
        </p:nvCxnSpPr>
        <p:spPr>
          <a:xfrm>
            <a:off x="836971" y="2336067"/>
            <a:ext cx="133115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B9A5B225-9D49-3560-FF62-613C976BAFFB}"/>
              </a:ext>
            </a:extLst>
          </p:cNvPr>
          <p:cNvSpPr txBox="1"/>
          <p:nvPr/>
        </p:nvSpPr>
        <p:spPr>
          <a:xfrm>
            <a:off x="1072301" y="2087858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查询类型</a:t>
            </a:r>
            <a:endParaRPr lang="en-US" altLang="zh-CN" sz="1013" b="1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DE38ADF-58BB-5D92-28AB-CEF2DE63801F}"/>
              </a:ext>
            </a:extLst>
          </p:cNvPr>
          <p:cNvSpPr txBox="1"/>
          <p:nvPr/>
        </p:nvSpPr>
        <p:spPr>
          <a:xfrm>
            <a:off x="1133108" y="2461819"/>
            <a:ext cx="724878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3FDEA29A-58F2-1159-3E8F-364845988628}"/>
              </a:ext>
            </a:extLst>
          </p:cNvPr>
          <p:cNvCxnSpPr>
            <a:cxnSpLocks/>
          </p:cNvCxnSpPr>
          <p:nvPr/>
        </p:nvCxnSpPr>
        <p:spPr>
          <a:xfrm flipH="1">
            <a:off x="783997" y="2710028"/>
            <a:ext cx="138413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38B5688E-6F9D-1486-1E57-7DBF589846D1}"/>
              </a:ext>
            </a:extLst>
          </p:cNvPr>
          <p:cNvSpPr txBox="1"/>
          <p:nvPr/>
        </p:nvSpPr>
        <p:spPr>
          <a:xfrm>
            <a:off x="998222" y="2835779"/>
            <a:ext cx="1061837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构造合法消息</a:t>
            </a:r>
            <a:endParaRPr lang="en-US" altLang="zh-CN" sz="1013" b="1" dirty="0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2192826-111C-8738-013E-336D1FBF88FC}"/>
              </a:ext>
            </a:extLst>
          </p:cNvPr>
          <p:cNvCxnSpPr>
            <a:cxnSpLocks/>
          </p:cNvCxnSpPr>
          <p:nvPr/>
        </p:nvCxnSpPr>
        <p:spPr>
          <a:xfrm>
            <a:off x="834616" y="3456301"/>
            <a:ext cx="314155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06F6D5FB-4E6E-C435-23B9-BD3458ACFE24}"/>
              </a:ext>
            </a:extLst>
          </p:cNvPr>
          <p:cNvSpPr txBox="1"/>
          <p:nvPr/>
        </p:nvSpPr>
        <p:spPr>
          <a:xfrm>
            <a:off x="831244" y="3208092"/>
            <a:ext cx="1599651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发布 </a:t>
            </a:r>
            <a:r>
              <a:rPr lang="en-US" altLang="zh-CN" sz="1013" b="1" dirty="0"/>
              <a:t>forged </a:t>
            </a:r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D1506E5-8147-F5A1-52AA-7639FA875480}"/>
              </a:ext>
            </a:extLst>
          </p:cNvPr>
          <p:cNvCxnSpPr>
            <a:cxnSpLocks/>
          </p:cNvCxnSpPr>
          <p:nvPr/>
        </p:nvCxnSpPr>
        <p:spPr>
          <a:xfrm>
            <a:off x="4001055" y="3964307"/>
            <a:ext cx="202048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1983F8C-F687-EEB2-4E1C-1A41308EB52A}"/>
              </a:ext>
            </a:extLst>
          </p:cNvPr>
          <p:cNvSpPr txBox="1"/>
          <p:nvPr/>
        </p:nvSpPr>
        <p:spPr>
          <a:xfrm>
            <a:off x="4510354" y="3721501"/>
            <a:ext cx="1211414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被订阅</a:t>
            </a:r>
            <a:r>
              <a:rPr lang="en-US" altLang="zh-CN" sz="1013" b="1" dirty="0"/>
              <a:t>/</a:t>
            </a:r>
            <a:r>
              <a:rPr lang="zh-CN" altLang="en-US" sz="1013" b="1" dirty="0"/>
              <a:t>处理</a:t>
            </a:r>
            <a:endParaRPr lang="en-US" altLang="zh-CN" sz="1013" b="1" dirty="0"/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82E6E458-E41E-B9A9-0B0E-340AD8FD418F}"/>
              </a:ext>
            </a:extLst>
          </p:cNvPr>
          <p:cNvCxnSpPr>
            <a:cxnSpLocks/>
          </p:cNvCxnSpPr>
          <p:nvPr/>
        </p:nvCxnSpPr>
        <p:spPr>
          <a:xfrm>
            <a:off x="6052932" y="4174600"/>
            <a:ext cx="202048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BDF3CB6F-3833-EA1F-097D-2FEAD5C0683B}"/>
              </a:ext>
            </a:extLst>
          </p:cNvPr>
          <p:cNvSpPr txBox="1"/>
          <p:nvPr/>
        </p:nvSpPr>
        <p:spPr>
          <a:xfrm>
            <a:off x="6562231" y="3931794"/>
            <a:ext cx="1211414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更新 </a:t>
            </a:r>
            <a:r>
              <a:rPr lang="en-US" altLang="zh-CN" sz="1013" b="1" dirty="0"/>
              <a:t>TF/</a:t>
            </a:r>
            <a:r>
              <a:rPr lang="zh-CN" altLang="en-US" sz="1013" b="1" dirty="0"/>
              <a:t>误导</a:t>
            </a:r>
            <a:r>
              <a:rPr lang="en-US" altLang="zh-CN" sz="1013" b="1" dirty="0"/>
              <a:t>RViz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7333B166-3820-B459-DA8D-C2356DF1326A}"/>
              </a:ext>
            </a:extLst>
          </p:cNvPr>
          <p:cNvCxnSpPr>
            <a:cxnSpLocks/>
          </p:cNvCxnSpPr>
          <p:nvPr/>
        </p:nvCxnSpPr>
        <p:spPr>
          <a:xfrm>
            <a:off x="860700" y="4617969"/>
            <a:ext cx="7193072" cy="56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FFEC95B3-096C-DC08-CB43-C6DAED5E07D5}"/>
              </a:ext>
            </a:extLst>
          </p:cNvPr>
          <p:cNvSpPr txBox="1"/>
          <p:nvPr/>
        </p:nvSpPr>
        <p:spPr>
          <a:xfrm>
            <a:off x="6505053" y="4364358"/>
            <a:ext cx="1061837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误导显示</a:t>
            </a:r>
            <a:endParaRPr lang="en-US" altLang="zh-CN" sz="1013" b="1" dirty="0"/>
          </a:p>
        </p:txBody>
      </p:sp>
      <p:sp>
        <p:nvSpPr>
          <p:cNvPr id="64" name="标注: 下箭头 63">
            <a:extLst>
              <a:ext uri="{FF2B5EF4-FFF2-40B4-BE49-F238E27FC236}">
                <a16:creationId xmlns:a16="http://schemas.microsoft.com/office/drawing/2014/main" id="{D077E3E9-7F43-B2A5-1AFA-68FF1265EF19}"/>
              </a:ext>
            </a:extLst>
          </p:cNvPr>
          <p:cNvSpPr/>
          <p:nvPr/>
        </p:nvSpPr>
        <p:spPr>
          <a:xfrm>
            <a:off x="2383010" y="2467003"/>
            <a:ext cx="1315128" cy="985759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关键条件：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关节名称匹配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关节范围合法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时间戳有效</a:t>
            </a:r>
          </a:p>
        </p:txBody>
      </p:sp>
    </p:spTree>
    <p:extLst>
      <p:ext uri="{BB962C8B-B14F-4D97-AF65-F5344CB8AC3E}">
        <p14:creationId xmlns:p14="http://schemas.microsoft.com/office/powerpoint/2010/main" val="2315500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B2E3-675D-57C3-B803-E943FBE7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2CB30021-B770-F417-E08D-D10C3CA7062D}"/>
              </a:ext>
            </a:extLst>
          </p:cNvPr>
          <p:cNvSpPr/>
          <p:nvPr/>
        </p:nvSpPr>
        <p:spPr>
          <a:xfrm>
            <a:off x="1037637" y="586012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攻击者节点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34D6B80A-72E0-14EA-A007-119F214B509F}"/>
              </a:ext>
            </a:extLst>
          </p:cNvPr>
          <p:cNvSpPr/>
          <p:nvPr/>
        </p:nvSpPr>
        <p:spPr>
          <a:xfrm>
            <a:off x="3649628" y="157555"/>
            <a:ext cx="1185612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映射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3628704D-FA46-62A5-55A9-87E42EB96C49}"/>
              </a:ext>
            </a:extLst>
          </p:cNvPr>
          <p:cNvSpPr/>
          <p:nvPr/>
        </p:nvSpPr>
        <p:spPr>
          <a:xfrm>
            <a:off x="6185850" y="586012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host(...), </a:t>
            </a:r>
            <a:r>
              <a:rPr lang="en-US" altLang="zh-CN" sz="1013" b="1" dirty="0" err="1">
                <a:solidFill>
                  <a:schemeClr val="tx1"/>
                </a:solidFill>
              </a:rPr>
              <a:t>hacl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457F2FB8-92A1-5F47-370B-450C3E346266}"/>
              </a:ext>
            </a:extLst>
          </p:cNvPr>
          <p:cNvSpPr/>
          <p:nvPr/>
        </p:nvSpPr>
        <p:spPr>
          <a:xfrm>
            <a:off x="1118518" y="154770"/>
            <a:ext cx="836152" cy="259761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ROS2 </a:t>
            </a:r>
            <a:r>
              <a:rPr lang="zh-CN" altLang="en-US" sz="1013" b="1" dirty="0">
                <a:solidFill>
                  <a:schemeClr val="tx1"/>
                </a:solidFill>
              </a:rPr>
              <a:t>对象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1E7D4301-0767-C742-6E2E-90F10A50979D}"/>
              </a:ext>
            </a:extLst>
          </p:cNvPr>
          <p:cNvSpPr/>
          <p:nvPr/>
        </p:nvSpPr>
        <p:spPr>
          <a:xfrm>
            <a:off x="6556472" y="154881"/>
            <a:ext cx="1185611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XSB</a:t>
            </a:r>
            <a:r>
              <a:rPr lang="zh-CN" altLang="en-US" sz="1013" b="1" dirty="0">
                <a:solidFill>
                  <a:schemeClr val="tx1"/>
                </a:solidFill>
              </a:rPr>
              <a:t>元素</a:t>
            </a: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B0FFE05-C401-CE54-59F2-A231B92C6053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2157715" y="710117"/>
            <a:ext cx="402813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FA7015E4-F76F-C33F-EAF4-15EFF399D841}"/>
              </a:ext>
            </a:extLst>
          </p:cNvPr>
          <p:cNvSpPr txBox="1"/>
          <p:nvPr/>
        </p:nvSpPr>
        <p:spPr>
          <a:xfrm>
            <a:off x="3676185" y="483201"/>
            <a:ext cx="1019831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主机</a:t>
            </a:r>
            <a:r>
              <a:rPr lang="en-US" altLang="zh-CN" sz="1013" b="1" dirty="0"/>
              <a:t>/</a:t>
            </a:r>
            <a:r>
              <a:rPr lang="zh-CN" altLang="en-US" sz="1013" b="1" dirty="0"/>
              <a:t>可达关系</a:t>
            </a:r>
            <a:endParaRPr lang="en-US" altLang="zh-CN" sz="1013" b="1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ADEDEA7-B4DE-16F2-BAC7-8EF8F611CD3E}"/>
              </a:ext>
            </a:extLst>
          </p:cNvPr>
          <p:cNvSpPr txBox="1"/>
          <p:nvPr/>
        </p:nvSpPr>
        <p:spPr>
          <a:xfrm>
            <a:off x="3760847" y="974435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话题事实</a:t>
            </a:r>
            <a:endParaRPr lang="en-US" altLang="zh-CN" sz="1013" b="1" dirty="0"/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B70050DA-83EA-146D-BA88-877C61F37B74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2157715" y="1215670"/>
            <a:ext cx="402813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8C288136-A0CF-3F72-654E-ED877E807DED}"/>
              </a:ext>
            </a:extLst>
          </p:cNvPr>
          <p:cNvCxnSpPr>
            <a:cxnSpLocks/>
            <a:stCxn id="3" idx="3"/>
            <a:endCxn id="36" idx="1"/>
          </p:cNvCxnSpPr>
          <p:nvPr/>
        </p:nvCxnSpPr>
        <p:spPr>
          <a:xfrm flipV="1">
            <a:off x="2166321" y="1775167"/>
            <a:ext cx="4065767" cy="22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FFB0C49-F8BC-3D33-2BCF-34572B203C8A}"/>
              </a:ext>
            </a:extLst>
          </p:cNvPr>
          <p:cNvSpPr txBox="1"/>
          <p:nvPr/>
        </p:nvSpPr>
        <p:spPr>
          <a:xfrm>
            <a:off x="3778706" y="1478963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通信关系</a:t>
            </a:r>
            <a:endParaRPr lang="en-US" altLang="zh-CN" sz="1013" b="1" dirty="0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AC4E2E6-A113-16ED-AB6E-2EF643377951}"/>
              </a:ext>
            </a:extLst>
          </p:cNvPr>
          <p:cNvCxnSpPr>
            <a:cxnSpLocks/>
            <a:stCxn id="9" idx="3"/>
            <a:endCxn id="55" idx="1"/>
          </p:cNvCxnSpPr>
          <p:nvPr/>
        </p:nvCxnSpPr>
        <p:spPr>
          <a:xfrm>
            <a:off x="2166321" y="3302283"/>
            <a:ext cx="40704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3C5A540D-2459-CF5E-3815-344AF2778B59}"/>
              </a:ext>
            </a:extLst>
          </p:cNvPr>
          <p:cNvSpPr txBox="1"/>
          <p:nvPr/>
        </p:nvSpPr>
        <p:spPr>
          <a:xfrm>
            <a:off x="3735163" y="3014888"/>
            <a:ext cx="1599651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攻击规则</a:t>
            </a:r>
            <a:endParaRPr lang="en-US" altLang="zh-CN" sz="1013" b="1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1D2C6B3-5A8B-1AD9-5F44-E0DD5DD89252}"/>
              </a:ext>
            </a:extLst>
          </p:cNvPr>
          <p:cNvSpPr txBox="1"/>
          <p:nvPr/>
        </p:nvSpPr>
        <p:spPr>
          <a:xfrm>
            <a:off x="3719851" y="3919330"/>
            <a:ext cx="1211414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查询结论</a:t>
            </a:r>
            <a:endParaRPr lang="en-US" altLang="zh-CN" sz="1013" b="1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64F8175-3DD6-19BA-2076-40AC5927B239}"/>
              </a:ext>
            </a:extLst>
          </p:cNvPr>
          <p:cNvCxnSpPr>
            <a:cxnSpLocks/>
            <a:stCxn id="13" idx="3"/>
            <a:endCxn id="61" idx="1"/>
          </p:cNvCxnSpPr>
          <p:nvPr/>
        </p:nvCxnSpPr>
        <p:spPr>
          <a:xfrm>
            <a:off x="2175809" y="4167539"/>
            <a:ext cx="4071717" cy="7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9AF6DB0C-8F28-CD33-D8FC-442887960095}"/>
              </a:ext>
            </a:extLst>
          </p:cNvPr>
          <p:cNvSpPr/>
          <p:nvPr/>
        </p:nvSpPr>
        <p:spPr>
          <a:xfrm>
            <a:off x="1037637" y="1033720"/>
            <a:ext cx="1120078" cy="36390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ROS2 topic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3F5C5C1F-3872-1088-91B6-20250D1A9BFA}"/>
              </a:ext>
            </a:extLst>
          </p:cNvPr>
          <p:cNvSpPr/>
          <p:nvPr/>
        </p:nvSpPr>
        <p:spPr>
          <a:xfrm>
            <a:off x="1046243" y="1595482"/>
            <a:ext cx="1120078" cy="36390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发布者</a:t>
            </a:r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zh-CN" altLang="en-US" sz="1013" b="1" dirty="0">
                <a:solidFill>
                  <a:schemeClr val="tx1"/>
                </a:solidFill>
              </a:rPr>
              <a:t>订阅者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78671B01-7174-F59D-392D-4E80F7D4D1C6}"/>
              </a:ext>
            </a:extLst>
          </p:cNvPr>
          <p:cNvSpPr/>
          <p:nvPr/>
        </p:nvSpPr>
        <p:spPr>
          <a:xfrm>
            <a:off x="1046243" y="2136519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显示链</a:t>
            </a:r>
          </a:p>
        </p:txBody>
      </p: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32097377-34CC-691A-EFBE-6021A0637415}"/>
              </a:ext>
            </a:extLst>
          </p:cNvPr>
          <p:cNvSpPr/>
          <p:nvPr/>
        </p:nvSpPr>
        <p:spPr>
          <a:xfrm>
            <a:off x="1046243" y="3178178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攻击动作</a:t>
            </a: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4F538C0F-0B05-9617-4B56-3CAA0445516A}"/>
              </a:ext>
            </a:extLst>
          </p:cNvPr>
          <p:cNvSpPr/>
          <p:nvPr/>
        </p:nvSpPr>
        <p:spPr>
          <a:xfrm>
            <a:off x="1055731" y="4043434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攻击结果</a:t>
            </a:r>
          </a:p>
        </p:txBody>
      </p:sp>
      <p:sp>
        <p:nvSpPr>
          <p:cNvPr id="18" name="流程图: 过程 17">
            <a:extLst>
              <a:ext uri="{FF2B5EF4-FFF2-40B4-BE49-F238E27FC236}">
                <a16:creationId xmlns:a16="http://schemas.microsoft.com/office/drawing/2014/main" id="{5614162B-82C9-01B0-77A4-D4AEA6657412}"/>
              </a:ext>
            </a:extLst>
          </p:cNvPr>
          <p:cNvSpPr/>
          <p:nvPr/>
        </p:nvSpPr>
        <p:spPr>
          <a:xfrm>
            <a:off x="6185850" y="1091565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rosTopic</a:t>
            </a:r>
            <a:r>
              <a:rPr lang="en-US" altLang="zh-CN" sz="1013" b="1" dirty="0">
                <a:solidFill>
                  <a:schemeClr val="tx1"/>
                </a:solidFill>
              </a:rPr>
              <a:t>(...), </a:t>
            </a:r>
            <a:r>
              <a:rPr lang="en-US" altLang="zh-CN" sz="1013" b="1" dirty="0" err="1">
                <a:solidFill>
                  <a:schemeClr val="tx1"/>
                </a:solidFill>
              </a:rPr>
              <a:t>messageType</a:t>
            </a:r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36" name="流程图: 过程 35">
            <a:extLst>
              <a:ext uri="{FF2B5EF4-FFF2-40B4-BE49-F238E27FC236}">
                <a16:creationId xmlns:a16="http://schemas.microsoft.com/office/drawing/2014/main" id="{F16F3A73-C166-C4F9-93CF-0343727A47CF}"/>
              </a:ext>
            </a:extLst>
          </p:cNvPr>
          <p:cNvSpPr/>
          <p:nvPr/>
        </p:nvSpPr>
        <p:spPr>
          <a:xfrm>
            <a:off x="6232088" y="1651062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publishes(...), subscribes(...)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4" name="流程图: 过程 43">
            <a:extLst>
              <a:ext uri="{FF2B5EF4-FFF2-40B4-BE49-F238E27FC236}">
                <a16:creationId xmlns:a16="http://schemas.microsoft.com/office/drawing/2014/main" id="{2CC3E7FE-9465-59AD-53AA-04046AA00588}"/>
              </a:ext>
            </a:extLst>
          </p:cNvPr>
          <p:cNvSpPr/>
          <p:nvPr/>
        </p:nvSpPr>
        <p:spPr>
          <a:xfrm>
            <a:off x="6233398" y="2120525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trustsSubscriberInput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9DBBC88-B8B4-2AEC-C4C9-C42D7AE554A7}"/>
              </a:ext>
            </a:extLst>
          </p:cNvPr>
          <p:cNvSpPr txBox="1"/>
          <p:nvPr/>
        </p:nvSpPr>
        <p:spPr>
          <a:xfrm>
            <a:off x="3723733" y="1976145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信任假设</a:t>
            </a:r>
            <a:endParaRPr lang="en-US" altLang="zh-CN" sz="1013" b="1" dirty="0"/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E7384D11-3CB6-B53C-3AC8-B70F654050D4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2166321" y="2244630"/>
            <a:ext cx="4067077" cy="159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流程图: 过程 49">
            <a:extLst>
              <a:ext uri="{FF2B5EF4-FFF2-40B4-BE49-F238E27FC236}">
                <a16:creationId xmlns:a16="http://schemas.microsoft.com/office/drawing/2014/main" id="{053EF8EA-D064-AAE7-4273-3FE18B72DFC5}"/>
              </a:ext>
            </a:extLst>
          </p:cNvPr>
          <p:cNvSpPr/>
          <p:nvPr/>
        </p:nvSpPr>
        <p:spPr>
          <a:xfrm>
            <a:off x="1037637" y="2522700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桥接节点</a:t>
            </a:r>
          </a:p>
        </p:txBody>
      </p:sp>
      <p:sp>
        <p:nvSpPr>
          <p:cNvPr id="51" name="流程图: 过程 50">
            <a:extLst>
              <a:ext uri="{FF2B5EF4-FFF2-40B4-BE49-F238E27FC236}">
                <a16:creationId xmlns:a16="http://schemas.microsoft.com/office/drawing/2014/main" id="{4D9A5D6E-8310-F4A1-EBA1-56EC4D932222}"/>
              </a:ext>
            </a:extLst>
          </p:cNvPr>
          <p:cNvSpPr/>
          <p:nvPr/>
        </p:nvSpPr>
        <p:spPr>
          <a:xfrm>
            <a:off x="6246768" y="2490181"/>
            <a:ext cx="1926857" cy="313247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bridgeNode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 </a:t>
            </a:r>
            <a:r>
              <a:rPr lang="en-US" altLang="zh-CN" sz="1013" b="1" dirty="0" err="1">
                <a:solidFill>
                  <a:schemeClr val="tx1"/>
                </a:solidFill>
              </a:rPr>
              <a:t>forwardsToPhysicalLayer</a:t>
            </a:r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B659158-B0FB-0274-B8BC-5441348D7F1C}"/>
              </a:ext>
            </a:extLst>
          </p:cNvPr>
          <p:cNvSpPr txBox="1"/>
          <p:nvPr/>
        </p:nvSpPr>
        <p:spPr>
          <a:xfrm>
            <a:off x="3737103" y="2394845"/>
            <a:ext cx="979755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下游传播条件</a:t>
            </a:r>
            <a:endParaRPr lang="en-US" altLang="zh-CN" sz="1013" b="1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58BDD5E1-77F0-AC4C-C242-37B98F840163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2157715" y="2646805"/>
            <a:ext cx="408905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EBE1C48A-5554-778C-BFAB-83607B4984BC}"/>
              </a:ext>
            </a:extLst>
          </p:cNvPr>
          <p:cNvSpPr/>
          <p:nvPr/>
        </p:nvSpPr>
        <p:spPr>
          <a:xfrm>
            <a:off x="6236727" y="2908882"/>
            <a:ext cx="1922217" cy="786801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enumerateTopic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forgeValidJointState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injectForgedJointState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tamperTFStream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competingPublisherState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1" name="流程图: 过程 60">
            <a:extLst>
              <a:ext uri="{FF2B5EF4-FFF2-40B4-BE49-F238E27FC236}">
                <a16:creationId xmlns:a16="http://schemas.microsoft.com/office/drawing/2014/main" id="{B139C133-A022-0930-FA72-A09E29C12873}"/>
              </a:ext>
            </a:extLst>
          </p:cNvPr>
          <p:cNvSpPr/>
          <p:nvPr/>
        </p:nvSpPr>
        <p:spPr>
          <a:xfrm>
            <a:off x="6247526" y="3911732"/>
            <a:ext cx="1922217" cy="52681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misleadPoseDisplay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oscillatingPoseDisplay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policyViolation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A988E90-4CD6-F74E-4FA7-F2D3AE147781}"/>
              </a:ext>
            </a:extLst>
          </p:cNvPr>
          <p:cNvSpPr txBox="1"/>
          <p:nvPr/>
        </p:nvSpPr>
        <p:spPr>
          <a:xfrm>
            <a:off x="144751" y="1028288"/>
            <a:ext cx="665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Facts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7888C18-D218-C56A-7B50-72D93E970C85}"/>
              </a:ext>
            </a:extLst>
          </p:cNvPr>
          <p:cNvSpPr txBox="1"/>
          <p:nvPr/>
        </p:nvSpPr>
        <p:spPr>
          <a:xfrm>
            <a:off x="144750" y="2305515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Rules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4FC6AF1-6560-DAA1-9239-710F5A561B74}"/>
              </a:ext>
            </a:extLst>
          </p:cNvPr>
          <p:cNvSpPr txBox="1"/>
          <p:nvPr/>
        </p:nvSpPr>
        <p:spPr>
          <a:xfrm>
            <a:off x="144751" y="3674102"/>
            <a:ext cx="926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457894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0BF03-717F-AD51-261A-32BB78DA4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1740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7DB3C-63B4-5B8F-90DE-83D2E9CC8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3690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1C4BB-0D73-3AB5-5AA9-CA7435D7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1005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55446-B51C-E3B6-97C8-2A8FE04D7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9455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60FA7-66B9-687B-16BE-83478BC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3332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173</TotalTime>
  <Words>362</Words>
  <Application>Microsoft Office PowerPoint</Application>
  <PresentationFormat>全屏显示(16:9)</PresentationFormat>
  <Paragraphs>125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Wenshuo Wang</dc:creator>
  <cp:lastModifiedBy>Wenshuo Wang</cp:lastModifiedBy>
  <cp:revision>80</cp:revision>
  <dcterms:created xsi:type="dcterms:W3CDTF">2026-05-12T05:24:43Z</dcterms:created>
  <dcterms:modified xsi:type="dcterms:W3CDTF">2026-05-12T10:12:19Z</dcterms:modified>
</cp:coreProperties>
</file>