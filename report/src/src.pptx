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0" r:id="rId4"/>
    <p:sldId id="264" r:id="rId5"/>
    <p:sldId id="265" r:id="rId6"/>
    <p:sldId id="266" r:id="rId7"/>
    <p:sldId id="267" r:id="rId8"/>
    <p:sldId id="268" r:id="rId9"/>
    <p:sldId id="269" r:id="rId1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6766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0191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681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8847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640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1946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690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6937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961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8344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424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77D2E4-DC07-49FA-8B27-5EDAB5377D6C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70F225-F82B-43B1-A0AB-D09A391D6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619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A1D28FA6-81F6-5D7E-3E64-C9F79F795ACE}"/>
              </a:ext>
            </a:extLst>
          </p:cNvPr>
          <p:cNvSpPr/>
          <p:nvPr/>
        </p:nvSpPr>
        <p:spPr>
          <a:xfrm>
            <a:off x="227063" y="210137"/>
            <a:ext cx="3134822" cy="693174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joint_state_publisher_gui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发布关节状态 </a:t>
            </a: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403ACB7D-AF81-5BEF-D564-3A9C1BE9C4D0}"/>
              </a:ext>
            </a:extLst>
          </p:cNvPr>
          <p:cNvSpPr/>
          <p:nvPr/>
        </p:nvSpPr>
        <p:spPr>
          <a:xfrm>
            <a:off x="227065" y="1237381"/>
            <a:ext cx="3145094" cy="693174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joint_states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类型：</a:t>
            </a:r>
            <a:r>
              <a:rPr lang="en-US" altLang="zh-CN" sz="1013" b="1" dirty="0" err="1">
                <a:solidFill>
                  <a:schemeClr val="tx1"/>
                </a:solidFill>
              </a:rPr>
              <a:t>sensor_msgs</a:t>
            </a:r>
            <a:r>
              <a:rPr lang="en-US" altLang="zh-CN" sz="1013" b="1" dirty="0">
                <a:solidFill>
                  <a:schemeClr val="tx1"/>
                </a:solidFill>
              </a:rPr>
              <a:t>/msg/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JointState</a:t>
            </a:r>
            <a:r>
              <a:rPr lang="en-US" altLang="zh-CN" sz="1013" b="1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6" name="流程图: 过程 5">
            <a:extLst>
              <a:ext uri="{FF2B5EF4-FFF2-40B4-BE49-F238E27FC236}">
                <a16:creationId xmlns:a16="http://schemas.microsoft.com/office/drawing/2014/main" id="{561C7E29-2CD1-97E3-2266-FC3142A7D398}"/>
              </a:ext>
            </a:extLst>
          </p:cNvPr>
          <p:cNvSpPr/>
          <p:nvPr/>
        </p:nvSpPr>
        <p:spPr>
          <a:xfrm>
            <a:off x="227065" y="2264624"/>
            <a:ext cx="3134820" cy="693174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robot_state_publisher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根据关节状态计算 </a:t>
            </a:r>
            <a:r>
              <a:rPr lang="en-US" altLang="zh-CN" sz="1013" b="1" dirty="0">
                <a:solidFill>
                  <a:schemeClr val="tx1"/>
                </a:solidFill>
              </a:rPr>
              <a:t>TF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7" name="流程图: 过程 6">
            <a:extLst>
              <a:ext uri="{FF2B5EF4-FFF2-40B4-BE49-F238E27FC236}">
                <a16:creationId xmlns:a16="http://schemas.microsoft.com/office/drawing/2014/main" id="{463E8A51-A812-F025-CEE5-423181715F6E}"/>
              </a:ext>
            </a:extLst>
          </p:cNvPr>
          <p:cNvSpPr/>
          <p:nvPr/>
        </p:nvSpPr>
        <p:spPr>
          <a:xfrm>
            <a:off x="227066" y="3304385"/>
            <a:ext cx="3134819" cy="693174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en-US" altLang="zh-CN" sz="1013" b="1" dirty="0" err="1">
                <a:solidFill>
                  <a:schemeClr val="tx1"/>
                </a:solidFill>
              </a:rPr>
              <a:t>tf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类型：</a:t>
            </a:r>
            <a:r>
              <a:rPr lang="en-US" altLang="zh-CN" sz="1013" b="1" dirty="0">
                <a:solidFill>
                  <a:schemeClr val="tx1"/>
                </a:solidFill>
              </a:rPr>
              <a:t>tf2_msgs/msg/</a:t>
            </a:r>
            <a:r>
              <a:rPr lang="en-US" altLang="zh-CN" sz="1013" b="1" dirty="0" err="1">
                <a:solidFill>
                  <a:schemeClr val="tx1"/>
                </a:solidFill>
              </a:rPr>
              <a:t>TFMessage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8" name="流程图: 过程 7">
            <a:extLst>
              <a:ext uri="{FF2B5EF4-FFF2-40B4-BE49-F238E27FC236}">
                <a16:creationId xmlns:a16="http://schemas.microsoft.com/office/drawing/2014/main" id="{1E0B39BA-5EF3-5309-0997-D132CD7EC168}"/>
              </a:ext>
            </a:extLst>
          </p:cNvPr>
          <p:cNvSpPr/>
          <p:nvPr/>
        </p:nvSpPr>
        <p:spPr>
          <a:xfrm>
            <a:off x="227072" y="4343867"/>
            <a:ext cx="3134813" cy="693174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Rviz</a:t>
            </a: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显示机械臂姿态</a:t>
            </a: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D7A40787-9B14-5363-41AB-1866AA7E9023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794476" y="3997559"/>
            <a:ext cx="3" cy="34630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654A0608-B84B-DCE6-2D9B-44D84855057C}"/>
              </a:ext>
            </a:extLst>
          </p:cNvPr>
          <p:cNvSpPr txBox="1"/>
          <p:nvPr/>
        </p:nvSpPr>
        <p:spPr>
          <a:xfrm>
            <a:off x="1863801" y="925588"/>
            <a:ext cx="1063112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发布 </a:t>
            </a:r>
            <a:r>
              <a:rPr lang="en-US" altLang="zh-CN" sz="1013" b="1" dirty="0" err="1"/>
              <a:t>JointState</a:t>
            </a:r>
            <a:endParaRPr lang="en-US" altLang="zh-CN" sz="1013" b="1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BF744E0-A78A-3FF0-EB8A-AC6A5B67D96A}"/>
              </a:ext>
            </a:extLst>
          </p:cNvPr>
          <p:cNvSpPr txBox="1"/>
          <p:nvPr/>
        </p:nvSpPr>
        <p:spPr>
          <a:xfrm>
            <a:off x="1863801" y="1941420"/>
            <a:ext cx="444352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订阅</a:t>
            </a:r>
            <a:endParaRPr lang="en-US" altLang="zh-CN" sz="1013" b="1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187045C-FC58-D9FC-AD3A-2F348AB87C71}"/>
              </a:ext>
            </a:extLst>
          </p:cNvPr>
          <p:cNvSpPr txBox="1"/>
          <p:nvPr/>
        </p:nvSpPr>
        <p:spPr>
          <a:xfrm>
            <a:off x="1863801" y="3004005"/>
            <a:ext cx="617477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发布 </a:t>
            </a:r>
            <a:r>
              <a:rPr lang="en-US" altLang="zh-CN" sz="1013" b="1" dirty="0"/>
              <a:t>TF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5D67406C-6852-EB7B-BCBF-7096D23AEAD2}"/>
              </a:ext>
            </a:extLst>
          </p:cNvPr>
          <p:cNvSpPr txBox="1"/>
          <p:nvPr/>
        </p:nvSpPr>
        <p:spPr>
          <a:xfrm>
            <a:off x="1838962" y="4020663"/>
            <a:ext cx="444352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订阅</a:t>
            </a:r>
            <a:endParaRPr lang="en-US" altLang="zh-CN" sz="1013" b="1" dirty="0"/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27FC2D14-44DE-102F-2842-80B9BFCB39D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794475" y="2957798"/>
            <a:ext cx="1" cy="34658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EB8374E7-407C-EF0A-FF67-0F7C3710139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94475" y="1930555"/>
            <a:ext cx="5137" cy="33407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F9A3DA29-79F2-C557-D012-E2571E8D0B90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794474" y="903311"/>
            <a:ext cx="5138" cy="33407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箭头: 左 86">
            <a:extLst>
              <a:ext uri="{FF2B5EF4-FFF2-40B4-BE49-F238E27FC236}">
                <a16:creationId xmlns:a16="http://schemas.microsoft.com/office/drawing/2014/main" id="{5885161F-786F-36A7-3875-447F7E0CEC9A}"/>
              </a:ext>
            </a:extLst>
          </p:cNvPr>
          <p:cNvSpPr/>
          <p:nvPr/>
        </p:nvSpPr>
        <p:spPr>
          <a:xfrm>
            <a:off x="3361886" y="1306320"/>
            <a:ext cx="1460838" cy="567813"/>
          </a:xfrm>
          <a:prstGeom prst="lef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rgbClr val="FF0000"/>
                </a:solidFill>
              </a:rPr>
              <a:t>关键攻击面</a:t>
            </a:r>
          </a:p>
        </p:txBody>
      </p:sp>
    </p:spTree>
    <p:extLst>
      <p:ext uri="{BB962C8B-B14F-4D97-AF65-F5344CB8AC3E}">
        <p14:creationId xmlns:p14="http://schemas.microsoft.com/office/powerpoint/2010/main" val="3018635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F48CA-1256-7E27-165C-3781474EF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流程图: 过程 1">
            <a:extLst>
              <a:ext uri="{FF2B5EF4-FFF2-40B4-BE49-F238E27FC236}">
                <a16:creationId xmlns:a16="http://schemas.microsoft.com/office/drawing/2014/main" id="{D7692683-D935-9909-373B-CBBE80C41550}"/>
              </a:ext>
            </a:extLst>
          </p:cNvPr>
          <p:cNvSpPr/>
          <p:nvPr/>
        </p:nvSpPr>
        <p:spPr>
          <a:xfrm>
            <a:off x="144097" y="1412487"/>
            <a:ext cx="1060236" cy="1570644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事实输入层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Facts</a:t>
            </a:r>
          </a:p>
          <a:p>
            <a:pPr algn="ctr"/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主机</a:t>
            </a:r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zh-CN" altLang="en-US" sz="1013" b="1" dirty="0">
                <a:solidFill>
                  <a:schemeClr val="tx1"/>
                </a:solidFill>
              </a:rPr>
              <a:t>节点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topic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发布订阅关系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消息类型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攻击者能力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7" name="流程图: 过程 6">
            <a:extLst>
              <a:ext uri="{FF2B5EF4-FFF2-40B4-BE49-F238E27FC236}">
                <a16:creationId xmlns:a16="http://schemas.microsoft.com/office/drawing/2014/main" id="{3E737F89-BF41-B1A8-1E55-6786A212B3F1}"/>
              </a:ext>
            </a:extLst>
          </p:cNvPr>
          <p:cNvSpPr/>
          <p:nvPr/>
        </p:nvSpPr>
        <p:spPr>
          <a:xfrm>
            <a:off x="1915441" y="1412487"/>
            <a:ext cx="1060236" cy="1570644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规则推理层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Rules</a:t>
            </a:r>
          </a:p>
          <a:p>
            <a:pPr algn="ctr"/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枚举</a:t>
            </a:r>
            <a:r>
              <a:rPr lang="en-US" altLang="zh-CN" sz="1013" b="1" dirty="0">
                <a:solidFill>
                  <a:schemeClr val="tx1"/>
                </a:solidFill>
              </a:rPr>
              <a:t>topic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学习消息结构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伪造状态消息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状态传播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zh-CN" altLang="en-US" sz="1013" b="1" dirty="0">
                <a:solidFill>
                  <a:schemeClr val="tx1"/>
                </a:solidFill>
              </a:rPr>
              <a:t>竞争性发布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8" name="流程图: 过程 7">
            <a:extLst>
              <a:ext uri="{FF2B5EF4-FFF2-40B4-BE49-F238E27FC236}">
                <a16:creationId xmlns:a16="http://schemas.microsoft.com/office/drawing/2014/main" id="{72BC2A6B-8796-7869-2EF1-7251FF845F07}"/>
              </a:ext>
            </a:extLst>
          </p:cNvPr>
          <p:cNvSpPr/>
          <p:nvPr/>
        </p:nvSpPr>
        <p:spPr>
          <a:xfrm>
            <a:off x="3686785" y="1412487"/>
            <a:ext cx="1060236" cy="1570644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攻击链查询层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Queries</a:t>
            </a:r>
          </a:p>
          <a:p>
            <a:pPr algn="ctr"/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en-US" altLang="zh-CN" sz="1013" b="1" dirty="0" err="1">
                <a:solidFill>
                  <a:schemeClr val="tx1"/>
                </a:solidFill>
              </a:rPr>
              <a:t>misleadPose</a:t>
            </a:r>
            <a:r>
              <a:rPr lang="en-US" altLang="zh-CN" sz="1013" b="1" dirty="0">
                <a:solidFill>
                  <a:schemeClr val="tx1"/>
                </a:solidFill>
              </a:rPr>
              <a:t>…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oscillating...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physical...</a:t>
            </a:r>
          </a:p>
        </p:txBody>
      </p:sp>
      <p:sp>
        <p:nvSpPr>
          <p:cNvPr id="9" name="流程图: 过程 8">
            <a:extLst>
              <a:ext uri="{FF2B5EF4-FFF2-40B4-BE49-F238E27FC236}">
                <a16:creationId xmlns:a16="http://schemas.microsoft.com/office/drawing/2014/main" id="{0B1E67A9-48FD-EAFB-8BAE-AF0AD0967251}"/>
              </a:ext>
            </a:extLst>
          </p:cNvPr>
          <p:cNvSpPr/>
          <p:nvPr/>
        </p:nvSpPr>
        <p:spPr>
          <a:xfrm>
            <a:off x="5516031" y="1423250"/>
            <a:ext cx="1060236" cy="1570644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策略判断层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Policy Violation</a:t>
            </a:r>
          </a:p>
          <a:p>
            <a:pPr algn="ctr"/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publish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destabilize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influence</a:t>
            </a:r>
          </a:p>
        </p:txBody>
      </p:sp>
      <p:sp>
        <p:nvSpPr>
          <p:cNvPr id="10" name="流程图: 过程 9">
            <a:extLst>
              <a:ext uri="{FF2B5EF4-FFF2-40B4-BE49-F238E27FC236}">
                <a16:creationId xmlns:a16="http://schemas.microsoft.com/office/drawing/2014/main" id="{5D644D2E-5F4E-A55D-BEED-33DE65259603}"/>
              </a:ext>
            </a:extLst>
          </p:cNvPr>
          <p:cNvSpPr/>
          <p:nvPr/>
        </p:nvSpPr>
        <p:spPr>
          <a:xfrm>
            <a:off x="7477779" y="1412487"/>
            <a:ext cx="1190436" cy="1570644"/>
          </a:xfrm>
          <a:prstGeom prst="flowChart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防护对照层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Defense Compare</a:t>
            </a:r>
          </a:p>
          <a:p>
            <a:pPr algn="ctr"/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en-US" altLang="zh-CN" sz="1013" b="1" dirty="0" err="1">
                <a:solidFill>
                  <a:schemeClr val="tx1"/>
                </a:solidFill>
              </a:rPr>
              <a:t>topicAuth</a:t>
            </a:r>
            <a:r>
              <a:rPr lang="en-US" altLang="zh-CN" sz="1013" b="1" dirty="0">
                <a:solidFill>
                  <a:schemeClr val="tx1"/>
                </a:solidFill>
              </a:rPr>
              <a:t>…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en-US" altLang="zh-CN" sz="1013" b="1" dirty="0" err="1">
                <a:solidFill>
                  <a:schemeClr val="tx1"/>
                </a:solidFill>
              </a:rPr>
              <a:t>publisherACL</a:t>
            </a:r>
            <a:r>
              <a:rPr lang="en-US" altLang="zh-CN" sz="1013" b="1" dirty="0">
                <a:solidFill>
                  <a:schemeClr val="tx1"/>
                </a:solidFill>
              </a:rPr>
              <a:t>…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- </a:t>
            </a:r>
            <a:r>
              <a:rPr lang="en-US" altLang="zh-CN" sz="1013" b="1" dirty="0" err="1">
                <a:solidFill>
                  <a:schemeClr val="tx1"/>
                </a:solidFill>
              </a:rPr>
              <a:t>defenseEff</a:t>
            </a:r>
            <a:r>
              <a:rPr lang="en-US" altLang="zh-CN" sz="1013" b="1" dirty="0">
                <a:solidFill>
                  <a:schemeClr val="tx1"/>
                </a:solidFill>
              </a:rPr>
              <a:t>…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104165B2-CA32-369C-D31F-E62628887ADE}"/>
              </a:ext>
            </a:extLst>
          </p:cNvPr>
          <p:cNvCxnSpPr>
            <a:stCxn id="2" idx="3"/>
            <a:endCxn id="7" idx="1"/>
          </p:cNvCxnSpPr>
          <p:nvPr/>
        </p:nvCxnSpPr>
        <p:spPr>
          <a:xfrm>
            <a:off x="1204333" y="2197809"/>
            <a:ext cx="71110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797336E-7BE0-8F38-6A39-D630D6A8FFB6}"/>
              </a:ext>
            </a:extLst>
          </p:cNvPr>
          <p:cNvSpPr txBox="1"/>
          <p:nvPr/>
        </p:nvSpPr>
        <p:spPr>
          <a:xfrm>
            <a:off x="1201570" y="1951588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/>
              <a:t>规则建模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83191EB-9558-588F-F7D8-BAD48434EEA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2975677" y="2197809"/>
            <a:ext cx="71110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71E39AB2-9EAB-3AF1-7D48-4EEB820DD1B1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4747021" y="2197809"/>
            <a:ext cx="769010" cy="107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B3489791-FB40-EBFB-80C9-0C0347AFC9E2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6576267" y="2197809"/>
            <a:ext cx="901512" cy="107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89D9DBB-A7FD-7AB6-34B9-E3F93DCEB22C}"/>
              </a:ext>
            </a:extLst>
          </p:cNvPr>
          <p:cNvSpPr txBox="1"/>
          <p:nvPr/>
        </p:nvSpPr>
        <p:spPr>
          <a:xfrm>
            <a:off x="2975677" y="1951587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/>
              <a:t>推理得到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E2BBCDB-7411-CC22-C346-C20D5A170831}"/>
              </a:ext>
            </a:extLst>
          </p:cNvPr>
          <p:cNvSpPr txBox="1"/>
          <p:nvPr/>
        </p:nvSpPr>
        <p:spPr>
          <a:xfrm>
            <a:off x="4747021" y="1955547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/>
              <a:t>进一步判断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0C0624B-5DBA-3A09-3DB8-8C2D47BD8FBA}"/>
              </a:ext>
            </a:extLst>
          </p:cNvPr>
          <p:cNvSpPr txBox="1"/>
          <p:nvPr/>
        </p:nvSpPr>
        <p:spPr>
          <a:xfrm>
            <a:off x="6542755" y="1951586"/>
            <a:ext cx="9685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/>
              <a:t>加入防护条件</a:t>
            </a:r>
          </a:p>
        </p:txBody>
      </p:sp>
    </p:spTree>
    <p:extLst>
      <p:ext uri="{BB962C8B-B14F-4D97-AF65-F5344CB8AC3E}">
        <p14:creationId xmlns:p14="http://schemas.microsoft.com/office/powerpoint/2010/main" val="12064789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DFDF8-E144-A174-B1CB-AD6BBB2C6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AEC95FE3-5A72-1DF5-A65B-26B404C948F4}"/>
              </a:ext>
            </a:extLst>
          </p:cNvPr>
          <p:cNvSpPr/>
          <p:nvPr/>
        </p:nvSpPr>
        <p:spPr>
          <a:xfrm>
            <a:off x="308343" y="971105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joint_state_publisher_gui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BD9C860D-1E9B-7A53-9E7C-404A98C0ACD9}"/>
              </a:ext>
            </a:extLst>
          </p:cNvPr>
          <p:cNvSpPr/>
          <p:nvPr/>
        </p:nvSpPr>
        <p:spPr>
          <a:xfrm>
            <a:off x="2645145" y="971105"/>
            <a:ext cx="1926855" cy="259761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joint_states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614F555-203F-9312-81D5-F3231C2E8F68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 flipV="1">
            <a:off x="4598633" y="1687894"/>
            <a:ext cx="482741" cy="1916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14F91142-D333-4A5A-7CFE-93FD6B390373}"/>
              </a:ext>
            </a:extLst>
          </p:cNvPr>
          <p:cNvSpPr txBox="1"/>
          <p:nvPr/>
        </p:nvSpPr>
        <p:spPr>
          <a:xfrm>
            <a:off x="417563" y="462286"/>
            <a:ext cx="574196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未防护</a:t>
            </a:r>
            <a:endParaRPr lang="en-US" altLang="zh-CN" sz="1013" b="1" dirty="0"/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4EA88817-AED2-31CD-27CE-F26496C5E4C5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 flipH="1">
            <a:off x="3635206" y="1211706"/>
            <a:ext cx="2382964" cy="3654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43D4C473-B85B-7024-9D3E-9333A4EE351D}"/>
              </a:ext>
            </a:extLst>
          </p:cNvPr>
          <p:cNvCxnSpPr>
            <a:cxnSpLocks/>
            <a:stCxn id="5" idx="3"/>
            <a:endCxn id="20" idx="1"/>
          </p:cNvCxnSpPr>
          <p:nvPr/>
        </p:nvCxnSpPr>
        <p:spPr>
          <a:xfrm flipV="1">
            <a:off x="4572000" y="1087602"/>
            <a:ext cx="482741" cy="1338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92E07893-9D6E-EAE5-BBD1-19B8B14DABD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2235200" y="1095210"/>
            <a:ext cx="409945" cy="57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74A8841A-7F3D-C1E8-C5F1-50C43B288767}"/>
              </a:ext>
            </a:extLst>
          </p:cNvPr>
          <p:cNvSpPr/>
          <p:nvPr/>
        </p:nvSpPr>
        <p:spPr>
          <a:xfrm>
            <a:off x="5054741" y="963497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robot_state_publisher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FA5228B8-5EFA-ADFC-35B1-4CACE4B61FD0}"/>
              </a:ext>
            </a:extLst>
          </p:cNvPr>
          <p:cNvSpPr/>
          <p:nvPr/>
        </p:nvSpPr>
        <p:spPr>
          <a:xfrm>
            <a:off x="2671778" y="1577174"/>
            <a:ext cx="1926855" cy="259761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en-US" altLang="zh-CN" sz="1013" b="1" dirty="0" err="1">
                <a:solidFill>
                  <a:schemeClr val="tx1"/>
                </a:solidFill>
              </a:rPr>
              <a:t>tf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1F45CCC7-FC3F-DB34-BE35-3D1DD223A57F}"/>
              </a:ext>
            </a:extLst>
          </p:cNvPr>
          <p:cNvSpPr/>
          <p:nvPr/>
        </p:nvSpPr>
        <p:spPr>
          <a:xfrm>
            <a:off x="5081374" y="1563789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RViz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44" name="标注: 上箭头 43">
            <a:extLst>
              <a:ext uri="{FF2B5EF4-FFF2-40B4-BE49-F238E27FC236}">
                <a16:creationId xmlns:a16="http://schemas.microsoft.com/office/drawing/2014/main" id="{ACD65D1B-7500-AA5D-7135-3D660D873409}"/>
              </a:ext>
            </a:extLst>
          </p:cNvPr>
          <p:cNvSpPr/>
          <p:nvPr/>
        </p:nvSpPr>
        <p:spPr>
          <a:xfrm>
            <a:off x="596951" y="1236160"/>
            <a:ext cx="1349640" cy="312615"/>
          </a:xfrm>
          <a:prstGeom prst="upArrow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solidFill>
                  <a:schemeClr val="tx1"/>
                </a:solidFill>
              </a:rPr>
              <a:t>攻击者（同域接入）</a:t>
            </a:r>
          </a:p>
        </p:txBody>
      </p:sp>
      <p:sp>
        <p:nvSpPr>
          <p:cNvPr id="45" name="标注: 下箭头 44">
            <a:extLst>
              <a:ext uri="{FF2B5EF4-FFF2-40B4-BE49-F238E27FC236}">
                <a16:creationId xmlns:a16="http://schemas.microsoft.com/office/drawing/2014/main" id="{43ABEF3C-EE04-D176-F4E7-D05392873078}"/>
              </a:ext>
            </a:extLst>
          </p:cNvPr>
          <p:cNvSpPr/>
          <p:nvPr/>
        </p:nvSpPr>
        <p:spPr>
          <a:xfrm>
            <a:off x="2803427" y="578782"/>
            <a:ext cx="1607820" cy="377107"/>
          </a:xfrm>
          <a:prstGeom prst="downArrow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solidFill>
                  <a:schemeClr val="tx1"/>
                </a:solidFill>
              </a:rPr>
              <a:t>恶意消息可直接注入</a:t>
            </a:r>
          </a:p>
        </p:txBody>
      </p:sp>
      <p:sp>
        <p:nvSpPr>
          <p:cNvPr id="46" name="流程图: 过程 45">
            <a:extLst>
              <a:ext uri="{FF2B5EF4-FFF2-40B4-BE49-F238E27FC236}">
                <a16:creationId xmlns:a16="http://schemas.microsoft.com/office/drawing/2014/main" id="{8F53B5A5-EEBC-2190-F666-8847431EC1E6}"/>
              </a:ext>
            </a:extLst>
          </p:cNvPr>
          <p:cNvSpPr/>
          <p:nvPr/>
        </p:nvSpPr>
        <p:spPr>
          <a:xfrm>
            <a:off x="308343" y="2988657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joint_state_publisher_gui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47" name="流程图: 过程 46">
            <a:extLst>
              <a:ext uri="{FF2B5EF4-FFF2-40B4-BE49-F238E27FC236}">
                <a16:creationId xmlns:a16="http://schemas.microsoft.com/office/drawing/2014/main" id="{040E25D4-8320-E2D1-3788-BF21D0263DAD}"/>
              </a:ext>
            </a:extLst>
          </p:cNvPr>
          <p:cNvSpPr/>
          <p:nvPr/>
        </p:nvSpPr>
        <p:spPr>
          <a:xfrm>
            <a:off x="2645145" y="2988657"/>
            <a:ext cx="2120987" cy="259761"/>
          </a:xfrm>
          <a:prstGeom prst="flowChart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/_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joint_states_authorized_source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B9CED46B-F5D6-F5C9-7BC2-3229B084E30B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645871" y="4270764"/>
            <a:ext cx="483817" cy="1464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2EAAD0B2-5262-25BE-7EE0-71F621799D92}"/>
              </a:ext>
            </a:extLst>
          </p:cNvPr>
          <p:cNvSpPr txBox="1"/>
          <p:nvPr/>
        </p:nvSpPr>
        <p:spPr>
          <a:xfrm>
            <a:off x="417563" y="2479838"/>
            <a:ext cx="574196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防护后</a:t>
            </a:r>
            <a:endParaRPr lang="en-US" altLang="zh-CN" sz="1013" b="1" dirty="0"/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836808DC-A3E9-15E6-746F-EA82FA5E1154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2235199" y="4249181"/>
            <a:ext cx="483817" cy="362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FDA6F126-30A0-F6B1-7FD6-3A923C252900}"/>
              </a:ext>
            </a:extLst>
          </p:cNvPr>
          <p:cNvCxnSpPr>
            <a:cxnSpLocks/>
            <a:stCxn id="47" idx="3"/>
            <a:endCxn id="60" idx="1"/>
          </p:cNvCxnSpPr>
          <p:nvPr/>
        </p:nvCxnSpPr>
        <p:spPr>
          <a:xfrm>
            <a:off x="4766132" y="3118538"/>
            <a:ext cx="409945" cy="57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15FD62E2-627F-5BFC-5123-EE5359225E5B}"/>
              </a:ext>
            </a:extLst>
          </p:cNvPr>
          <p:cNvCxnSpPr>
            <a:cxnSpLocks/>
            <a:stCxn id="46" idx="3"/>
            <a:endCxn id="47" idx="1"/>
          </p:cNvCxnSpPr>
          <p:nvPr/>
        </p:nvCxnSpPr>
        <p:spPr>
          <a:xfrm>
            <a:off x="2235200" y="3112762"/>
            <a:ext cx="409945" cy="57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流程图: 过程 52">
            <a:extLst>
              <a:ext uri="{FF2B5EF4-FFF2-40B4-BE49-F238E27FC236}">
                <a16:creationId xmlns:a16="http://schemas.microsoft.com/office/drawing/2014/main" id="{3ABA17EA-5D60-1573-C987-59C92E658B7C}"/>
              </a:ext>
            </a:extLst>
          </p:cNvPr>
          <p:cNvSpPr/>
          <p:nvPr/>
        </p:nvSpPr>
        <p:spPr>
          <a:xfrm>
            <a:off x="308342" y="4125076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robot_state_publisher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54" name="流程图: 过程 53">
            <a:extLst>
              <a:ext uri="{FF2B5EF4-FFF2-40B4-BE49-F238E27FC236}">
                <a16:creationId xmlns:a16="http://schemas.microsoft.com/office/drawing/2014/main" id="{57206966-202E-3B1D-3C16-FD7D831F7231}"/>
              </a:ext>
            </a:extLst>
          </p:cNvPr>
          <p:cNvSpPr/>
          <p:nvPr/>
        </p:nvSpPr>
        <p:spPr>
          <a:xfrm>
            <a:off x="2719016" y="4155527"/>
            <a:ext cx="1926855" cy="259761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en-US" altLang="zh-CN" sz="1013" b="1" dirty="0" err="1">
                <a:solidFill>
                  <a:schemeClr val="tx1"/>
                </a:solidFill>
              </a:rPr>
              <a:t>tf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55" name="流程图: 过程 54">
            <a:extLst>
              <a:ext uri="{FF2B5EF4-FFF2-40B4-BE49-F238E27FC236}">
                <a16:creationId xmlns:a16="http://schemas.microsoft.com/office/drawing/2014/main" id="{3E47B52E-3886-2D65-32C3-0BBE62DA673F}"/>
              </a:ext>
            </a:extLst>
          </p:cNvPr>
          <p:cNvSpPr/>
          <p:nvPr/>
        </p:nvSpPr>
        <p:spPr>
          <a:xfrm>
            <a:off x="5129688" y="4146659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RViz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56" name="标注: 上箭头 55">
            <a:extLst>
              <a:ext uri="{FF2B5EF4-FFF2-40B4-BE49-F238E27FC236}">
                <a16:creationId xmlns:a16="http://schemas.microsoft.com/office/drawing/2014/main" id="{4AD8EE8F-EB9B-2358-7736-916E08E011B9}"/>
              </a:ext>
            </a:extLst>
          </p:cNvPr>
          <p:cNvSpPr/>
          <p:nvPr/>
        </p:nvSpPr>
        <p:spPr>
          <a:xfrm>
            <a:off x="596951" y="3253712"/>
            <a:ext cx="1349640" cy="312615"/>
          </a:xfrm>
          <a:prstGeom prst="upArrow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solidFill>
                  <a:schemeClr val="tx1"/>
                </a:solidFill>
              </a:rPr>
              <a:t>攻击者（同域接入）</a:t>
            </a:r>
          </a:p>
        </p:txBody>
      </p:sp>
      <p:sp>
        <p:nvSpPr>
          <p:cNvPr id="60" name="流程图: 过程 59">
            <a:extLst>
              <a:ext uri="{FF2B5EF4-FFF2-40B4-BE49-F238E27FC236}">
                <a16:creationId xmlns:a16="http://schemas.microsoft.com/office/drawing/2014/main" id="{AA6C68BE-8B12-4FCB-B814-6945DABBF918}"/>
              </a:ext>
            </a:extLst>
          </p:cNvPr>
          <p:cNvSpPr/>
          <p:nvPr/>
        </p:nvSpPr>
        <p:spPr>
          <a:xfrm>
            <a:off x="5176077" y="3000209"/>
            <a:ext cx="1926857" cy="248209"/>
          </a:xfrm>
          <a:prstGeom prst="flowChart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trusted_joint_state_filter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65" name="流程图: 过程 64">
            <a:extLst>
              <a:ext uri="{FF2B5EF4-FFF2-40B4-BE49-F238E27FC236}">
                <a16:creationId xmlns:a16="http://schemas.microsoft.com/office/drawing/2014/main" id="{903EA756-103C-D818-233F-17912F114D3D}"/>
              </a:ext>
            </a:extLst>
          </p:cNvPr>
          <p:cNvSpPr/>
          <p:nvPr/>
        </p:nvSpPr>
        <p:spPr>
          <a:xfrm>
            <a:off x="2703372" y="3578525"/>
            <a:ext cx="2120987" cy="259761"/>
          </a:xfrm>
          <a:prstGeom prst="flowChart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/_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joint_states_trusted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2F28FA7B-45A9-0B69-83EA-E37ABA9C65A8}"/>
              </a:ext>
            </a:extLst>
          </p:cNvPr>
          <p:cNvCxnSpPr>
            <a:cxnSpLocks/>
            <a:stCxn id="60" idx="2"/>
            <a:endCxn id="65" idx="3"/>
          </p:cNvCxnSpPr>
          <p:nvPr/>
        </p:nvCxnSpPr>
        <p:spPr>
          <a:xfrm flipH="1">
            <a:off x="4824359" y="3248418"/>
            <a:ext cx="1315147" cy="45998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F6B33A9D-58E6-58B6-2C6D-F3D2ECA9F5DE}"/>
              </a:ext>
            </a:extLst>
          </p:cNvPr>
          <p:cNvCxnSpPr>
            <a:cxnSpLocks/>
            <a:stCxn id="65" idx="1"/>
            <a:endCxn id="53" idx="0"/>
          </p:cNvCxnSpPr>
          <p:nvPr/>
        </p:nvCxnSpPr>
        <p:spPr>
          <a:xfrm flipH="1">
            <a:off x="1271771" y="3708406"/>
            <a:ext cx="1431601" cy="41667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标注: 下箭头 95">
            <a:extLst>
              <a:ext uri="{FF2B5EF4-FFF2-40B4-BE49-F238E27FC236}">
                <a16:creationId xmlns:a16="http://schemas.microsoft.com/office/drawing/2014/main" id="{FA101C5E-2AF6-F20A-2DE6-E649E3029E8A}"/>
              </a:ext>
            </a:extLst>
          </p:cNvPr>
          <p:cNvSpPr/>
          <p:nvPr/>
        </p:nvSpPr>
        <p:spPr>
          <a:xfrm>
            <a:off x="5335595" y="2621611"/>
            <a:ext cx="1607820" cy="377107"/>
          </a:xfrm>
          <a:prstGeom prst="downArrow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>
                <a:solidFill>
                  <a:schemeClr val="tx1"/>
                </a:solidFill>
              </a:rPr>
              <a:t>可信过滤边界</a:t>
            </a:r>
            <a:endParaRPr lang="zh-CN" altLang="en-US" sz="10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4979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B8F88-7E9F-7AEC-4FDB-8AAC5AF22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2058943B-8232-E4A7-BB43-C025C4BFB99C}"/>
              </a:ext>
            </a:extLst>
          </p:cNvPr>
          <p:cNvSpPr/>
          <p:nvPr/>
        </p:nvSpPr>
        <p:spPr>
          <a:xfrm>
            <a:off x="1602363" y="957719"/>
            <a:ext cx="1120078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ROS2</a:t>
            </a:r>
            <a:r>
              <a:rPr lang="zh-CN" altLang="en-US" sz="1013" b="1" dirty="0">
                <a:solidFill>
                  <a:schemeClr val="tx1"/>
                </a:solidFill>
              </a:rPr>
              <a:t>发现</a:t>
            </a:r>
            <a:r>
              <a:rPr lang="en-US" altLang="zh-CN" sz="1013" b="1" dirty="0">
                <a:solidFill>
                  <a:schemeClr val="tx1"/>
                </a:solidFill>
              </a:rPr>
              <a:t>/CLI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F5E7F9AF-D918-D52E-8CA9-FA322412B369}"/>
              </a:ext>
            </a:extLst>
          </p:cNvPr>
          <p:cNvSpPr/>
          <p:nvPr/>
        </p:nvSpPr>
        <p:spPr>
          <a:xfrm>
            <a:off x="3386388" y="946166"/>
            <a:ext cx="1185612" cy="259761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joint_states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C7452DF6-34A0-7E87-4245-2F8BA59BC3D4}"/>
              </a:ext>
            </a:extLst>
          </p:cNvPr>
          <p:cNvSpPr/>
          <p:nvPr/>
        </p:nvSpPr>
        <p:spPr>
          <a:xfrm>
            <a:off x="5054741" y="963497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robot_state_publisher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B3D28377-D476-0534-12FA-09289282C1EE}"/>
              </a:ext>
            </a:extLst>
          </p:cNvPr>
          <p:cNvSpPr/>
          <p:nvPr/>
        </p:nvSpPr>
        <p:spPr>
          <a:xfrm>
            <a:off x="413168" y="951942"/>
            <a:ext cx="836152" cy="259761"/>
          </a:xfrm>
          <a:prstGeom prst="flowChartProcess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攻击者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91EF29F2-A9E4-547B-8656-D2B3ED92C50F}"/>
              </a:ext>
            </a:extLst>
          </p:cNvPr>
          <p:cNvSpPr/>
          <p:nvPr/>
        </p:nvSpPr>
        <p:spPr>
          <a:xfrm>
            <a:off x="7464339" y="963496"/>
            <a:ext cx="1185611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RViz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8BE2243-EF97-76C5-C2DF-23DE74711024}"/>
              </a:ext>
            </a:extLst>
          </p:cNvPr>
          <p:cNvCxnSpPr>
            <a:stCxn id="21" idx="2"/>
          </p:cNvCxnSpPr>
          <p:nvPr/>
        </p:nvCxnSpPr>
        <p:spPr>
          <a:xfrm>
            <a:off x="831244" y="1211703"/>
            <a:ext cx="0" cy="3546151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8DDD8F87-D6F2-A52A-0AC5-D8D38E7E27DB}"/>
              </a:ext>
            </a:extLst>
          </p:cNvPr>
          <p:cNvCxnSpPr/>
          <p:nvPr/>
        </p:nvCxnSpPr>
        <p:spPr>
          <a:xfrm>
            <a:off x="2162402" y="1205928"/>
            <a:ext cx="0" cy="3546151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7642527-74E3-5D73-7510-3028C3647BA9}"/>
              </a:ext>
            </a:extLst>
          </p:cNvPr>
          <p:cNvCxnSpPr/>
          <p:nvPr/>
        </p:nvCxnSpPr>
        <p:spPr>
          <a:xfrm>
            <a:off x="3988965" y="1205927"/>
            <a:ext cx="0" cy="3546151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1601A2C-FC3C-7EEE-CC18-3A73C5E8E74F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6018170" y="1211706"/>
            <a:ext cx="0" cy="3540372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59A2F24-CD25-558D-14E6-E441485961C2}"/>
              </a:ext>
            </a:extLst>
          </p:cNvPr>
          <p:cNvCxnSpPr/>
          <p:nvPr/>
        </p:nvCxnSpPr>
        <p:spPr>
          <a:xfrm>
            <a:off x="8057144" y="1205927"/>
            <a:ext cx="0" cy="3546151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EA1A64BF-0603-205D-5EB0-B8CE50235296}"/>
              </a:ext>
            </a:extLst>
          </p:cNvPr>
          <p:cNvCxnSpPr/>
          <p:nvPr/>
        </p:nvCxnSpPr>
        <p:spPr>
          <a:xfrm>
            <a:off x="824848" y="1465688"/>
            <a:ext cx="133115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06F288E-709B-AA42-E0A0-4A4594F04BDC}"/>
              </a:ext>
            </a:extLst>
          </p:cNvPr>
          <p:cNvSpPr txBox="1"/>
          <p:nvPr/>
        </p:nvSpPr>
        <p:spPr>
          <a:xfrm>
            <a:off x="1060178" y="1217479"/>
            <a:ext cx="734496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13" b="1" dirty="0"/>
              <a:t>Topic</a:t>
            </a:r>
            <a:r>
              <a:rPr lang="zh-CN" altLang="en-US" sz="1013" b="1" dirty="0"/>
              <a:t>枚举</a:t>
            </a:r>
            <a:endParaRPr lang="en-US" altLang="zh-CN" sz="1013" b="1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E2E97F4-09B9-63BB-AD87-78E0B721CA00}"/>
              </a:ext>
            </a:extLst>
          </p:cNvPr>
          <p:cNvSpPr txBox="1"/>
          <p:nvPr/>
        </p:nvSpPr>
        <p:spPr>
          <a:xfrm>
            <a:off x="1035247" y="1596624"/>
            <a:ext cx="974947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识别目标</a:t>
            </a:r>
            <a:r>
              <a:rPr lang="en-US" altLang="zh-CN" sz="1013" b="1" dirty="0"/>
              <a:t>topic</a:t>
            </a: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3B214CAA-D45C-6588-DDCD-6C930D2FB432}"/>
              </a:ext>
            </a:extLst>
          </p:cNvPr>
          <p:cNvCxnSpPr>
            <a:cxnSpLocks/>
          </p:cNvCxnSpPr>
          <p:nvPr/>
        </p:nvCxnSpPr>
        <p:spPr>
          <a:xfrm flipH="1">
            <a:off x="771874" y="1839649"/>
            <a:ext cx="138413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7C61E4C0-2EE6-4126-D851-D11A16273951}"/>
              </a:ext>
            </a:extLst>
          </p:cNvPr>
          <p:cNvCxnSpPr/>
          <p:nvPr/>
        </p:nvCxnSpPr>
        <p:spPr>
          <a:xfrm>
            <a:off x="836971" y="2336067"/>
            <a:ext cx="133115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B9A5B225-9D49-3560-FF62-613C976BAFFB}"/>
              </a:ext>
            </a:extLst>
          </p:cNvPr>
          <p:cNvSpPr txBox="1"/>
          <p:nvPr/>
        </p:nvSpPr>
        <p:spPr>
          <a:xfrm>
            <a:off x="1072301" y="2087858"/>
            <a:ext cx="704039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查询类型</a:t>
            </a:r>
            <a:endParaRPr lang="en-US" altLang="zh-CN" sz="1013" b="1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7DE38ADF-58BB-5D92-28AB-CEF2DE63801F}"/>
              </a:ext>
            </a:extLst>
          </p:cNvPr>
          <p:cNvSpPr txBox="1"/>
          <p:nvPr/>
        </p:nvSpPr>
        <p:spPr>
          <a:xfrm>
            <a:off x="1133108" y="2461819"/>
            <a:ext cx="724878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13" b="1" dirty="0" err="1"/>
              <a:t>JointState</a:t>
            </a:r>
            <a:endParaRPr lang="en-US" altLang="zh-CN" sz="1013" b="1" dirty="0"/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3FDEA29A-58F2-1159-3E8F-364845988628}"/>
              </a:ext>
            </a:extLst>
          </p:cNvPr>
          <p:cNvCxnSpPr>
            <a:cxnSpLocks/>
          </p:cNvCxnSpPr>
          <p:nvPr/>
        </p:nvCxnSpPr>
        <p:spPr>
          <a:xfrm flipH="1">
            <a:off x="783997" y="2710028"/>
            <a:ext cx="138413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38B5688E-6F9D-1486-1E57-7DBF589846D1}"/>
              </a:ext>
            </a:extLst>
          </p:cNvPr>
          <p:cNvSpPr txBox="1"/>
          <p:nvPr/>
        </p:nvSpPr>
        <p:spPr>
          <a:xfrm>
            <a:off x="998222" y="2835779"/>
            <a:ext cx="1061837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13" b="1" dirty="0"/>
              <a:t>构造合法消息</a:t>
            </a:r>
            <a:endParaRPr lang="en-US" altLang="zh-CN" sz="1013" b="1" dirty="0"/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E2192826-111C-8738-013E-336D1FBF88FC}"/>
              </a:ext>
            </a:extLst>
          </p:cNvPr>
          <p:cNvCxnSpPr>
            <a:cxnSpLocks/>
          </p:cNvCxnSpPr>
          <p:nvPr/>
        </p:nvCxnSpPr>
        <p:spPr>
          <a:xfrm>
            <a:off x="834616" y="3456301"/>
            <a:ext cx="314155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06F6D5FB-4E6E-C435-23B9-BD3458ACFE24}"/>
              </a:ext>
            </a:extLst>
          </p:cNvPr>
          <p:cNvSpPr txBox="1"/>
          <p:nvPr/>
        </p:nvSpPr>
        <p:spPr>
          <a:xfrm>
            <a:off x="831244" y="3208092"/>
            <a:ext cx="1599651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13" b="1" dirty="0"/>
              <a:t>发布 </a:t>
            </a:r>
            <a:r>
              <a:rPr lang="en-US" altLang="zh-CN" sz="1013" b="1" dirty="0"/>
              <a:t>forged </a:t>
            </a:r>
            <a:r>
              <a:rPr lang="en-US" altLang="zh-CN" sz="1013" b="1" dirty="0" err="1"/>
              <a:t>JointState</a:t>
            </a:r>
            <a:endParaRPr lang="en-US" altLang="zh-CN" sz="1013" b="1" dirty="0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4D1506E5-8147-F5A1-52AA-7639FA875480}"/>
              </a:ext>
            </a:extLst>
          </p:cNvPr>
          <p:cNvCxnSpPr>
            <a:cxnSpLocks/>
          </p:cNvCxnSpPr>
          <p:nvPr/>
        </p:nvCxnSpPr>
        <p:spPr>
          <a:xfrm>
            <a:off x="4001055" y="3964307"/>
            <a:ext cx="202048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C1983F8C-F687-EEB2-4E1C-1A41308EB52A}"/>
              </a:ext>
            </a:extLst>
          </p:cNvPr>
          <p:cNvSpPr txBox="1"/>
          <p:nvPr/>
        </p:nvSpPr>
        <p:spPr>
          <a:xfrm>
            <a:off x="4510354" y="3721501"/>
            <a:ext cx="1211414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13" b="1" dirty="0"/>
              <a:t>被订阅</a:t>
            </a:r>
            <a:r>
              <a:rPr lang="en-US" altLang="zh-CN" sz="1013" b="1" dirty="0"/>
              <a:t>/</a:t>
            </a:r>
            <a:r>
              <a:rPr lang="zh-CN" altLang="en-US" sz="1013" b="1" dirty="0"/>
              <a:t>处理</a:t>
            </a:r>
            <a:endParaRPr lang="en-US" altLang="zh-CN" sz="1013" b="1" dirty="0"/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82E6E458-E41E-B9A9-0B0E-340AD8FD418F}"/>
              </a:ext>
            </a:extLst>
          </p:cNvPr>
          <p:cNvCxnSpPr>
            <a:cxnSpLocks/>
          </p:cNvCxnSpPr>
          <p:nvPr/>
        </p:nvCxnSpPr>
        <p:spPr>
          <a:xfrm>
            <a:off x="6052932" y="4174600"/>
            <a:ext cx="202048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BDF3CB6F-3833-EA1F-097D-2FEAD5C0683B}"/>
              </a:ext>
            </a:extLst>
          </p:cNvPr>
          <p:cNvSpPr txBox="1"/>
          <p:nvPr/>
        </p:nvSpPr>
        <p:spPr>
          <a:xfrm>
            <a:off x="6562231" y="3931794"/>
            <a:ext cx="1211414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13" b="1" dirty="0"/>
              <a:t>更新 </a:t>
            </a:r>
            <a:r>
              <a:rPr lang="en-US" altLang="zh-CN" sz="1013" b="1" dirty="0"/>
              <a:t>TF/</a:t>
            </a:r>
            <a:r>
              <a:rPr lang="zh-CN" altLang="en-US" sz="1013" b="1" dirty="0"/>
              <a:t>误导</a:t>
            </a:r>
            <a:r>
              <a:rPr lang="en-US" altLang="zh-CN" sz="1013" b="1" dirty="0"/>
              <a:t>RViz</a:t>
            </a: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7333B166-3820-B459-DA8D-C2356DF1326A}"/>
              </a:ext>
            </a:extLst>
          </p:cNvPr>
          <p:cNvCxnSpPr>
            <a:cxnSpLocks/>
          </p:cNvCxnSpPr>
          <p:nvPr/>
        </p:nvCxnSpPr>
        <p:spPr>
          <a:xfrm>
            <a:off x="860700" y="4617969"/>
            <a:ext cx="7193072" cy="56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FFEC95B3-096C-DC08-CB43-C6DAED5E07D5}"/>
              </a:ext>
            </a:extLst>
          </p:cNvPr>
          <p:cNvSpPr txBox="1"/>
          <p:nvPr/>
        </p:nvSpPr>
        <p:spPr>
          <a:xfrm>
            <a:off x="6505053" y="4364358"/>
            <a:ext cx="1061837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13" b="1" dirty="0"/>
              <a:t>误导显示</a:t>
            </a:r>
            <a:endParaRPr lang="en-US" altLang="zh-CN" sz="1013" b="1" dirty="0"/>
          </a:p>
        </p:txBody>
      </p:sp>
      <p:sp>
        <p:nvSpPr>
          <p:cNvPr id="64" name="标注: 下箭头 63">
            <a:extLst>
              <a:ext uri="{FF2B5EF4-FFF2-40B4-BE49-F238E27FC236}">
                <a16:creationId xmlns:a16="http://schemas.microsoft.com/office/drawing/2014/main" id="{D077E3E9-7F43-B2A5-1AFA-68FF1265EF19}"/>
              </a:ext>
            </a:extLst>
          </p:cNvPr>
          <p:cNvSpPr/>
          <p:nvPr/>
        </p:nvSpPr>
        <p:spPr>
          <a:xfrm>
            <a:off x="2383010" y="2467003"/>
            <a:ext cx="1315128" cy="985759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solidFill>
                  <a:schemeClr val="tx1"/>
                </a:solidFill>
              </a:rPr>
              <a:t>关键条件：</a:t>
            </a:r>
          </a:p>
          <a:p>
            <a:pPr algn="ctr"/>
            <a:r>
              <a:rPr lang="en-US" altLang="zh-CN" sz="1000" b="1" dirty="0">
                <a:solidFill>
                  <a:schemeClr val="tx1"/>
                </a:solidFill>
              </a:rPr>
              <a:t>- </a:t>
            </a:r>
            <a:r>
              <a:rPr lang="zh-CN" altLang="en-US" sz="1000" b="1" dirty="0">
                <a:solidFill>
                  <a:schemeClr val="tx1"/>
                </a:solidFill>
              </a:rPr>
              <a:t>关节名称匹配</a:t>
            </a:r>
          </a:p>
          <a:p>
            <a:pPr algn="ctr"/>
            <a:r>
              <a:rPr lang="en-US" altLang="zh-CN" sz="1000" b="1" dirty="0">
                <a:solidFill>
                  <a:schemeClr val="tx1"/>
                </a:solidFill>
              </a:rPr>
              <a:t>- </a:t>
            </a:r>
            <a:r>
              <a:rPr lang="zh-CN" altLang="en-US" sz="1000" b="1" dirty="0">
                <a:solidFill>
                  <a:schemeClr val="tx1"/>
                </a:solidFill>
              </a:rPr>
              <a:t>关节范围合法</a:t>
            </a:r>
          </a:p>
          <a:p>
            <a:pPr algn="ctr"/>
            <a:r>
              <a:rPr lang="en-US" altLang="zh-CN" sz="1000" b="1" dirty="0">
                <a:solidFill>
                  <a:schemeClr val="tx1"/>
                </a:solidFill>
              </a:rPr>
              <a:t>- </a:t>
            </a:r>
            <a:r>
              <a:rPr lang="zh-CN" altLang="en-US" sz="1000" b="1" dirty="0">
                <a:solidFill>
                  <a:schemeClr val="tx1"/>
                </a:solidFill>
              </a:rPr>
              <a:t>时间戳有效</a:t>
            </a:r>
          </a:p>
        </p:txBody>
      </p:sp>
    </p:spTree>
    <p:extLst>
      <p:ext uri="{BB962C8B-B14F-4D97-AF65-F5344CB8AC3E}">
        <p14:creationId xmlns:p14="http://schemas.microsoft.com/office/powerpoint/2010/main" val="2315500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B2E3-675D-57C3-B803-E943FBE77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2CB30021-B770-F417-E08D-D10C3CA7062D}"/>
              </a:ext>
            </a:extLst>
          </p:cNvPr>
          <p:cNvSpPr/>
          <p:nvPr/>
        </p:nvSpPr>
        <p:spPr>
          <a:xfrm>
            <a:off x="1037637" y="586012"/>
            <a:ext cx="1120078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攻击者节点</a:t>
            </a: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34D6B80A-72E0-14EA-A007-119F214B509F}"/>
              </a:ext>
            </a:extLst>
          </p:cNvPr>
          <p:cNvSpPr/>
          <p:nvPr/>
        </p:nvSpPr>
        <p:spPr>
          <a:xfrm>
            <a:off x="3649628" y="157555"/>
            <a:ext cx="1185612" cy="259761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映射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3628704D-FA46-62A5-55A9-87E42EB96C49}"/>
              </a:ext>
            </a:extLst>
          </p:cNvPr>
          <p:cNvSpPr/>
          <p:nvPr/>
        </p:nvSpPr>
        <p:spPr>
          <a:xfrm>
            <a:off x="6185850" y="586012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host(...), </a:t>
            </a:r>
            <a:r>
              <a:rPr lang="en-US" altLang="zh-CN" sz="1013" b="1" dirty="0" err="1">
                <a:solidFill>
                  <a:schemeClr val="tx1"/>
                </a:solidFill>
              </a:rPr>
              <a:t>hacl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457F2FB8-92A1-5F47-370B-450C3E346266}"/>
              </a:ext>
            </a:extLst>
          </p:cNvPr>
          <p:cNvSpPr/>
          <p:nvPr/>
        </p:nvSpPr>
        <p:spPr>
          <a:xfrm>
            <a:off x="1118518" y="154770"/>
            <a:ext cx="836152" cy="259761"/>
          </a:xfrm>
          <a:prstGeom prst="flowChartProcess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ROS2 </a:t>
            </a:r>
            <a:r>
              <a:rPr lang="zh-CN" altLang="en-US" sz="1013" b="1" dirty="0">
                <a:solidFill>
                  <a:schemeClr val="tx1"/>
                </a:solidFill>
              </a:rPr>
              <a:t>对象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1E7D4301-0767-C742-6E2E-90F10A50979D}"/>
              </a:ext>
            </a:extLst>
          </p:cNvPr>
          <p:cNvSpPr/>
          <p:nvPr/>
        </p:nvSpPr>
        <p:spPr>
          <a:xfrm>
            <a:off x="6556472" y="154881"/>
            <a:ext cx="1185611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XSB</a:t>
            </a:r>
            <a:r>
              <a:rPr lang="zh-CN" altLang="en-US" sz="1013" b="1" dirty="0">
                <a:solidFill>
                  <a:schemeClr val="tx1"/>
                </a:solidFill>
              </a:rPr>
              <a:t>元素</a:t>
            </a: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1B0FFE05-C401-CE54-59F2-A231B92C6053}"/>
              </a:ext>
            </a:extLst>
          </p:cNvPr>
          <p:cNvCxnSpPr>
            <a:cxnSpLocks/>
            <a:stCxn id="4" idx="3"/>
            <a:endCxn id="20" idx="1"/>
          </p:cNvCxnSpPr>
          <p:nvPr/>
        </p:nvCxnSpPr>
        <p:spPr>
          <a:xfrm>
            <a:off x="2157715" y="710117"/>
            <a:ext cx="402813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FA7015E4-F76F-C33F-EAF4-15EFF399D841}"/>
              </a:ext>
            </a:extLst>
          </p:cNvPr>
          <p:cNvSpPr txBox="1"/>
          <p:nvPr/>
        </p:nvSpPr>
        <p:spPr>
          <a:xfrm>
            <a:off x="3676185" y="483201"/>
            <a:ext cx="1019831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主机</a:t>
            </a:r>
            <a:r>
              <a:rPr lang="en-US" altLang="zh-CN" sz="1013" b="1" dirty="0"/>
              <a:t>/</a:t>
            </a:r>
            <a:r>
              <a:rPr lang="zh-CN" altLang="en-US" sz="1013" b="1" dirty="0"/>
              <a:t>可达关系</a:t>
            </a:r>
            <a:endParaRPr lang="en-US" altLang="zh-CN" sz="1013" b="1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ADEDEA7-B4DE-16F2-BAC7-8EF8F611CD3E}"/>
              </a:ext>
            </a:extLst>
          </p:cNvPr>
          <p:cNvSpPr txBox="1"/>
          <p:nvPr/>
        </p:nvSpPr>
        <p:spPr>
          <a:xfrm>
            <a:off x="3760847" y="974435"/>
            <a:ext cx="704039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话题事实</a:t>
            </a:r>
            <a:endParaRPr lang="en-US" altLang="zh-CN" sz="1013" b="1" dirty="0"/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B70050DA-83EA-146D-BA88-877C61F37B74}"/>
              </a:ext>
            </a:extLst>
          </p:cNvPr>
          <p:cNvCxnSpPr>
            <a:cxnSpLocks/>
            <a:stCxn id="2" idx="3"/>
            <a:endCxn id="18" idx="1"/>
          </p:cNvCxnSpPr>
          <p:nvPr/>
        </p:nvCxnSpPr>
        <p:spPr>
          <a:xfrm>
            <a:off x="2157715" y="1215670"/>
            <a:ext cx="402813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8C288136-A0CF-3F72-654E-ED877E807DED}"/>
              </a:ext>
            </a:extLst>
          </p:cNvPr>
          <p:cNvCxnSpPr>
            <a:cxnSpLocks/>
            <a:stCxn id="3" idx="3"/>
            <a:endCxn id="36" idx="1"/>
          </p:cNvCxnSpPr>
          <p:nvPr/>
        </p:nvCxnSpPr>
        <p:spPr>
          <a:xfrm flipV="1">
            <a:off x="2166321" y="1775167"/>
            <a:ext cx="4065767" cy="22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DFFB0C49-F8BC-3D33-2BCF-34572B203C8A}"/>
              </a:ext>
            </a:extLst>
          </p:cNvPr>
          <p:cNvSpPr txBox="1"/>
          <p:nvPr/>
        </p:nvSpPr>
        <p:spPr>
          <a:xfrm>
            <a:off x="3778706" y="1478963"/>
            <a:ext cx="704039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通信关系</a:t>
            </a:r>
            <a:endParaRPr lang="en-US" altLang="zh-CN" sz="1013" b="1" dirty="0"/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4AC4E2E6-A113-16ED-AB6E-2EF643377951}"/>
              </a:ext>
            </a:extLst>
          </p:cNvPr>
          <p:cNvCxnSpPr>
            <a:cxnSpLocks/>
            <a:stCxn id="9" idx="3"/>
            <a:endCxn id="55" idx="1"/>
          </p:cNvCxnSpPr>
          <p:nvPr/>
        </p:nvCxnSpPr>
        <p:spPr>
          <a:xfrm>
            <a:off x="2166321" y="3302283"/>
            <a:ext cx="407040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3C5A540D-2459-CF5E-3815-344AF2778B59}"/>
              </a:ext>
            </a:extLst>
          </p:cNvPr>
          <p:cNvSpPr txBox="1"/>
          <p:nvPr/>
        </p:nvSpPr>
        <p:spPr>
          <a:xfrm>
            <a:off x="3735163" y="3014888"/>
            <a:ext cx="1599651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13" b="1" dirty="0"/>
              <a:t>攻击规则</a:t>
            </a:r>
            <a:endParaRPr lang="en-US" altLang="zh-CN" sz="1013" b="1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1D2C6B3-5A8B-1AD9-5F44-E0DD5DD89252}"/>
              </a:ext>
            </a:extLst>
          </p:cNvPr>
          <p:cNvSpPr txBox="1"/>
          <p:nvPr/>
        </p:nvSpPr>
        <p:spPr>
          <a:xfrm>
            <a:off x="3719851" y="3919330"/>
            <a:ext cx="1211414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13" b="1" dirty="0"/>
              <a:t>查询结论</a:t>
            </a:r>
            <a:endParaRPr lang="en-US" altLang="zh-CN" sz="1013" b="1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864F8175-3DD6-19BA-2076-40AC5927B239}"/>
              </a:ext>
            </a:extLst>
          </p:cNvPr>
          <p:cNvCxnSpPr>
            <a:cxnSpLocks/>
            <a:stCxn id="13" idx="3"/>
            <a:endCxn id="61" idx="1"/>
          </p:cNvCxnSpPr>
          <p:nvPr/>
        </p:nvCxnSpPr>
        <p:spPr>
          <a:xfrm>
            <a:off x="2175809" y="4167539"/>
            <a:ext cx="4071717" cy="7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流程图: 过程 1">
            <a:extLst>
              <a:ext uri="{FF2B5EF4-FFF2-40B4-BE49-F238E27FC236}">
                <a16:creationId xmlns:a16="http://schemas.microsoft.com/office/drawing/2014/main" id="{9AF6DB0C-8F28-CD33-D8FC-442887960095}"/>
              </a:ext>
            </a:extLst>
          </p:cNvPr>
          <p:cNvSpPr/>
          <p:nvPr/>
        </p:nvSpPr>
        <p:spPr>
          <a:xfrm>
            <a:off x="1037637" y="1033720"/>
            <a:ext cx="1120078" cy="363900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ROS2 topic</a:t>
            </a: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(…)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3F5C5C1F-3872-1088-91B6-20250D1A9BFA}"/>
              </a:ext>
            </a:extLst>
          </p:cNvPr>
          <p:cNvSpPr/>
          <p:nvPr/>
        </p:nvSpPr>
        <p:spPr>
          <a:xfrm>
            <a:off x="1046243" y="1595482"/>
            <a:ext cx="1120078" cy="363900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发布者</a:t>
            </a:r>
            <a:r>
              <a:rPr lang="en-US" altLang="zh-CN" sz="1013" b="1" dirty="0">
                <a:solidFill>
                  <a:schemeClr val="tx1"/>
                </a:solidFill>
              </a:rPr>
              <a:t>/</a:t>
            </a:r>
            <a:r>
              <a:rPr lang="zh-CN" altLang="en-US" sz="1013" b="1" dirty="0">
                <a:solidFill>
                  <a:schemeClr val="tx1"/>
                </a:solidFill>
              </a:rPr>
              <a:t>订阅者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(…)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7" name="流程图: 过程 6">
            <a:extLst>
              <a:ext uri="{FF2B5EF4-FFF2-40B4-BE49-F238E27FC236}">
                <a16:creationId xmlns:a16="http://schemas.microsoft.com/office/drawing/2014/main" id="{78671B01-7174-F59D-392D-4E80F7D4D1C6}"/>
              </a:ext>
            </a:extLst>
          </p:cNvPr>
          <p:cNvSpPr/>
          <p:nvPr/>
        </p:nvSpPr>
        <p:spPr>
          <a:xfrm>
            <a:off x="1046243" y="2136519"/>
            <a:ext cx="1120078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显示链</a:t>
            </a:r>
          </a:p>
        </p:txBody>
      </p:sp>
      <p:sp>
        <p:nvSpPr>
          <p:cNvPr id="9" name="流程图: 过程 8">
            <a:extLst>
              <a:ext uri="{FF2B5EF4-FFF2-40B4-BE49-F238E27FC236}">
                <a16:creationId xmlns:a16="http://schemas.microsoft.com/office/drawing/2014/main" id="{32097377-34CC-691A-EFBE-6021A0637415}"/>
              </a:ext>
            </a:extLst>
          </p:cNvPr>
          <p:cNvSpPr/>
          <p:nvPr/>
        </p:nvSpPr>
        <p:spPr>
          <a:xfrm>
            <a:off x="1046243" y="3178178"/>
            <a:ext cx="1120078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攻击动作</a:t>
            </a:r>
          </a:p>
        </p:txBody>
      </p: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4F538C0F-0B05-9617-4B56-3CAA0445516A}"/>
              </a:ext>
            </a:extLst>
          </p:cNvPr>
          <p:cNvSpPr/>
          <p:nvPr/>
        </p:nvSpPr>
        <p:spPr>
          <a:xfrm>
            <a:off x="1055731" y="4043434"/>
            <a:ext cx="1120078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攻击结果</a:t>
            </a:r>
          </a:p>
        </p:txBody>
      </p:sp>
      <p:sp>
        <p:nvSpPr>
          <p:cNvPr id="18" name="流程图: 过程 17">
            <a:extLst>
              <a:ext uri="{FF2B5EF4-FFF2-40B4-BE49-F238E27FC236}">
                <a16:creationId xmlns:a16="http://schemas.microsoft.com/office/drawing/2014/main" id="{5614162B-82C9-01B0-77A4-D4AEA6657412}"/>
              </a:ext>
            </a:extLst>
          </p:cNvPr>
          <p:cNvSpPr/>
          <p:nvPr/>
        </p:nvSpPr>
        <p:spPr>
          <a:xfrm>
            <a:off x="6185850" y="1091565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rosTopic</a:t>
            </a:r>
            <a:r>
              <a:rPr lang="en-US" altLang="zh-CN" sz="1013" b="1" dirty="0">
                <a:solidFill>
                  <a:schemeClr val="tx1"/>
                </a:solidFill>
              </a:rPr>
              <a:t>(...), </a:t>
            </a:r>
            <a:r>
              <a:rPr lang="en-US" altLang="zh-CN" sz="1013" b="1" dirty="0" err="1">
                <a:solidFill>
                  <a:schemeClr val="tx1"/>
                </a:solidFill>
              </a:rPr>
              <a:t>messageType</a:t>
            </a:r>
            <a:r>
              <a:rPr lang="en-US" altLang="zh-CN" sz="1013" b="1" dirty="0">
                <a:solidFill>
                  <a:schemeClr val="tx1"/>
                </a:solidFill>
              </a:rPr>
              <a:t>(…)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36" name="流程图: 过程 35">
            <a:extLst>
              <a:ext uri="{FF2B5EF4-FFF2-40B4-BE49-F238E27FC236}">
                <a16:creationId xmlns:a16="http://schemas.microsoft.com/office/drawing/2014/main" id="{F16F3A73-C166-C4F9-93CF-0343727A47CF}"/>
              </a:ext>
            </a:extLst>
          </p:cNvPr>
          <p:cNvSpPr/>
          <p:nvPr/>
        </p:nvSpPr>
        <p:spPr>
          <a:xfrm>
            <a:off x="6232088" y="1651062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publishes(...), subscribes(...)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44" name="流程图: 过程 43">
            <a:extLst>
              <a:ext uri="{FF2B5EF4-FFF2-40B4-BE49-F238E27FC236}">
                <a16:creationId xmlns:a16="http://schemas.microsoft.com/office/drawing/2014/main" id="{2CC3E7FE-9465-59AD-53AA-04046AA00588}"/>
              </a:ext>
            </a:extLst>
          </p:cNvPr>
          <p:cNvSpPr/>
          <p:nvPr/>
        </p:nvSpPr>
        <p:spPr>
          <a:xfrm>
            <a:off x="6233398" y="2120525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trustsSubscriberInput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9DBBC88-B8B4-2AEC-C4C9-C42D7AE554A7}"/>
              </a:ext>
            </a:extLst>
          </p:cNvPr>
          <p:cNvSpPr txBox="1"/>
          <p:nvPr/>
        </p:nvSpPr>
        <p:spPr>
          <a:xfrm>
            <a:off x="3723733" y="1976145"/>
            <a:ext cx="704039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信任假设</a:t>
            </a:r>
            <a:endParaRPr lang="en-US" altLang="zh-CN" sz="1013" b="1" dirty="0"/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E7384D11-3CB6-B53C-3AC8-B70F654050D4}"/>
              </a:ext>
            </a:extLst>
          </p:cNvPr>
          <p:cNvCxnSpPr>
            <a:cxnSpLocks/>
            <a:stCxn id="7" idx="3"/>
            <a:endCxn id="44" idx="1"/>
          </p:cNvCxnSpPr>
          <p:nvPr/>
        </p:nvCxnSpPr>
        <p:spPr>
          <a:xfrm flipV="1">
            <a:off x="2166321" y="2244630"/>
            <a:ext cx="4067077" cy="159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流程图: 过程 49">
            <a:extLst>
              <a:ext uri="{FF2B5EF4-FFF2-40B4-BE49-F238E27FC236}">
                <a16:creationId xmlns:a16="http://schemas.microsoft.com/office/drawing/2014/main" id="{053EF8EA-D064-AAE7-4273-3FE18B72DFC5}"/>
              </a:ext>
            </a:extLst>
          </p:cNvPr>
          <p:cNvSpPr/>
          <p:nvPr/>
        </p:nvSpPr>
        <p:spPr>
          <a:xfrm>
            <a:off x="1037637" y="2522700"/>
            <a:ext cx="1120078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桥接节点</a:t>
            </a:r>
          </a:p>
        </p:txBody>
      </p:sp>
      <p:sp>
        <p:nvSpPr>
          <p:cNvPr id="51" name="流程图: 过程 50">
            <a:extLst>
              <a:ext uri="{FF2B5EF4-FFF2-40B4-BE49-F238E27FC236}">
                <a16:creationId xmlns:a16="http://schemas.microsoft.com/office/drawing/2014/main" id="{4D9A5D6E-8310-F4A1-EBA1-56EC4D932222}"/>
              </a:ext>
            </a:extLst>
          </p:cNvPr>
          <p:cNvSpPr/>
          <p:nvPr/>
        </p:nvSpPr>
        <p:spPr>
          <a:xfrm>
            <a:off x="6246768" y="2490181"/>
            <a:ext cx="1926857" cy="313247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bridgeNode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 </a:t>
            </a:r>
            <a:r>
              <a:rPr lang="en-US" altLang="zh-CN" sz="1013" b="1" dirty="0" err="1">
                <a:solidFill>
                  <a:schemeClr val="tx1"/>
                </a:solidFill>
              </a:rPr>
              <a:t>forwardsToPhysicalLayer</a:t>
            </a:r>
            <a:r>
              <a:rPr lang="en-US" altLang="zh-CN" sz="1013" b="1" dirty="0">
                <a:solidFill>
                  <a:schemeClr val="tx1"/>
                </a:solidFill>
              </a:rPr>
              <a:t>(…)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EB659158-B0FB-0274-B8BC-5441348D7F1C}"/>
              </a:ext>
            </a:extLst>
          </p:cNvPr>
          <p:cNvSpPr txBox="1"/>
          <p:nvPr/>
        </p:nvSpPr>
        <p:spPr>
          <a:xfrm>
            <a:off x="3737103" y="2394845"/>
            <a:ext cx="979755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下游传播条件</a:t>
            </a:r>
            <a:endParaRPr lang="en-US" altLang="zh-CN" sz="1013" b="1" dirty="0"/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58BDD5E1-77F0-AC4C-C242-37B98F840163}"/>
              </a:ext>
            </a:extLst>
          </p:cNvPr>
          <p:cNvCxnSpPr>
            <a:cxnSpLocks/>
            <a:stCxn id="50" idx="3"/>
            <a:endCxn id="51" idx="1"/>
          </p:cNvCxnSpPr>
          <p:nvPr/>
        </p:nvCxnSpPr>
        <p:spPr>
          <a:xfrm>
            <a:off x="2157715" y="2646805"/>
            <a:ext cx="408905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流程图: 过程 54">
            <a:extLst>
              <a:ext uri="{FF2B5EF4-FFF2-40B4-BE49-F238E27FC236}">
                <a16:creationId xmlns:a16="http://schemas.microsoft.com/office/drawing/2014/main" id="{EBE1C48A-5554-778C-BFAB-83607B4984BC}"/>
              </a:ext>
            </a:extLst>
          </p:cNvPr>
          <p:cNvSpPr/>
          <p:nvPr/>
        </p:nvSpPr>
        <p:spPr>
          <a:xfrm>
            <a:off x="6236727" y="2908882"/>
            <a:ext cx="1922217" cy="786801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enumerateTopic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forgeValidJointState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injectForgedJointState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tamperTFStream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competingPublisherState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61" name="流程图: 过程 60">
            <a:extLst>
              <a:ext uri="{FF2B5EF4-FFF2-40B4-BE49-F238E27FC236}">
                <a16:creationId xmlns:a16="http://schemas.microsoft.com/office/drawing/2014/main" id="{B139C133-A022-0930-FA72-A09E29C12873}"/>
              </a:ext>
            </a:extLst>
          </p:cNvPr>
          <p:cNvSpPr/>
          <p:nvPr/>
        </p:nvSpPr>
        <p:spPr>
          <a:xfrm>
            <a:off x="6247526" y="3911732"/>
            <a:ext cx="1922217" cy="526810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misleadPoseDisplay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oscillatingPoseDisplay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policyViolation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4A988E90-4CD6-F74E-4FA7-F2D3AE147781}"/>
              </a:ext>
            </a:extLst>
          </p:cNvPr>
          <p:cNvSpPr txBox="1"/>
          <p:nvPr/>
        </p:nvSpPr>
        <p:spPr>
          <a:xfrm>
            <a:off x="144751" y="1028288"/>
            <a:ext cx="665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Facts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7888C18-D218-C56A-7B50-72D93E970C85}"/>
              </a:ext>
            </a:extLst>
          </p:cNvPr>
          <p:cNvSpPr txBox="1"/>
          <p:nvPr/>
        </p:nvSpPr>
        <p:spPr>
          <a:xfrm>
            <a:off x="144750" y="2305515"/>
            <a:ext cx="700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Rules</a:t>
            </a: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4FC6AF1-6560-DAA1-9239-710F5A561B74}"/>
              </a:ext>
            </a:extLst>
          </p:cNvPr>
          <p:cNvSpPr txBox="1"/>
          <p:nvPr/>
        </p:nvSpPr>
        <p:spPr>
          <a:xfrm>
            <a:off x="144751" y="3674102"/>
            <a:ext cx="9268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chemeClr val="bg2">
                    <a:lumMod val="75000"/>
                  </a:schemeClr>
                </a:solidFill>
              </a:rPr>
              <a:t>Queries</a:t>
            </a:r>
          </a:p>
        </p:txBody>
      </p:sp>
    </p:spTree>
    <p:extLst>
      <p:ext uri="{BB962C8B-B14F-4D97-AF65-F5344CB8AC3E}">
        <p14:creationId xmlns:p14="http://schemas.microsoft.com/office/powerpoint/2010/main" val="2457894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59C86-954E-2BDA-FCC9-C6651CF81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AD0756A6-951F-BAD0-A47F-94396EE6B2AF}"/>
              </a:ext>
            </a:extLst>
          </p:cNvPr>
          <p:cNvSpPr/>
          <p:nvPr/>
        </p:nvSpPr>
        <p:spPr>
          <a:xfrm>
            <a:off x="465623" y="1069617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enumerateTopic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34747F86-D32C-DCDE-AE53-AAEE65E1CD82}"/>
              </a:ext>
            </a:extLst>
          </p:cNvPr>
          <p:cNvSpPr/>
          <p:nvPr/>
        </p:nvSpPr>
        <p:spPr>
          <a:xfrm>
            <a:off x="2888538" y="1067953"/>
            <a:ext cx="1926855" cy="259761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learnMessageSchema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BD1419B-28E4-A599-C798-B0E42459A86C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4815391" y="2231897"/>
            <a:ext cx="930467" cy="57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55C5E49F-F8AF-14CC-BDA4-0EB18E46FC6F}"/>
              </a:ext>
            </a:extLst>
          </p:cNvPr>
          <p:cNvCxnSpPr>
            <a:cxnSpLocks/>
            <a:stCxn id="20" idx="2"/>
            <a:endCxn id="46" idx="3"/>
          </p:cNvCxnSpPr>
          <p:nvPr/>
        </p:nvCxnSpPr>
        <p:spPr>
          <a:xfrm flipH="1">
            <a:off x="2392481" y="1323220"/>
            <a:ext cx="3747025" cy="44669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BA9D0923-E17C-30DB-02E1-34C75611FC42}"/>
              </a:ext>
            </a:extLst>
          </p:cNvPr>
          <p:cNvCxnSpPr>
            <a:cxnSpLocks/>
            <a:stCxn id="5" idx="3"/>
            <a:endCxn id="20" idx="1"/>
          </p:cNvCxnSpPr>
          <p:nvPr/>
        </p:nvCxnSpPr>
        <p:spPr>
          <a:xfrm>
            <a:off x="4815393" y="1197834"/>
            <a:ext cx="360684" cy="128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3A487726-7325-FB1F-CA14-E6BF002F65EE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2392480" y="1193722"/>
            <a:ext cx="496058" cy="411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060DDFDB-0958-0FA2-F960-7881B63AFC96}"/>
              </a:ext>
            </a:extLst>
          </p:cNvPr>
          <p:cNvSpPr/>
          <p:nvPr/>
        </p:nvSpPr>
        <p:spPr>
          <a:xfrm>
            <a:off x="5176077" y="1075011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forgeValidJointState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D4A2504E-085E-4BF7-4449-B530D321C191}"/>
              </a:ext>
            </a:extLst>
          </p:cNvPr>
          <p:cNvSpPr/>
          <p:nvPr/>
        </p:nvSpPr>
        <p:spPr>
          <a:xfrm>
            <a:off x="2888536" y="2102016"/>
            <a:ext cx="1926855" cy="259761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tamperTFStream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7A0DAF72-85FA-E803-7AD6-F04A2FE5DCA8}"/>
              </a:ext>
            </a:extLst>
          </p:cNvPr>
          <p:cNvSpPr/>
          <p:nvPr/>
        </p:nvSpPr>
        <p:spPr>
          <a:xfrm>
            <a:off x="5745858" y="2113568"/>
            <a:ext cx="1926857" cy="248209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misleadPoseDisplay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45" name="标注: 下箭头 44">
            <a:extLst>
              <a:ext uri="{FF2B5EF4-FFF2-40B4-BE49-F238E27FC236}">
                <a16:creationId xmlns:a16="http://schemas.microsoft.com/office/drawing/2014/main" id="{1AA8D196-8CBA-A1DD-B1C4-57865DFE8860}"/>
              </a:ext>
            </a:extLst>
          </p:cNvPr>
          <p:cNvSpPr/>
          <p:nvPr/>
        </p:nvSpPr>
        <p:spPr>
          <a:xfrm>
            <a:off x="5335595" y="158718"/>
            <a:ext cx="1607820" cy="895905"/>
          </a:xfrm>
          <a:prstGeom prst="downArrow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solidFill>
                  <a:schemeClr val="tx1"/>
                </a:solidFill>
              </a:rPr>
              <a:t>关键条件</a:t>
            </a:r>
          </a:p>
          <a:p>
            <a:pPr algn="ctr"/>
            <a:r>
              <a:rPr lang="en-US" altLang="zh-CN" sz="1000" b="1" dirty="0">
                <a:solidFill>
                  <a:schemeClr val="tx1"/>
                </a:solidFill>
              </a:rPr>
              <a:t>- </a:t>
            </a:r>
            <a:r>
              <a:rPr lang="zh-CN" altLang="en-US" sz="1000" b="1" dirty="0">
                <a:solidFill>
                  <a:schemeClr val="tx1"/>
                </a:solidFill>
              </a:rPr>
              <a:t>关节名称匹配</a:t>
            </a:r>
          </a:p>
          <a:p>
            <a:pPr algn="ctr"/>
            <a:r>
              <a:rPr lang="en-US" altLang="zh-CN" sz="1000" b="1" dirty="0">
                <a:solidFill>
                  <a:schemeClr val="tx1"/>
                </a:solidFill>
              </a:rPr>
              <a:t>- </a:t>
            </a:r>
            <a:r>
              <a:rPr lang="zh-CN" altLang="en-US" sz="1000" b="1" dirty="0">
                <a:solidFill>
                  <a:schemeClr val="tx1"/>
                </a:solidFill>
              </a:rPr>
              <a:t>关节范围合法</a:t>
            </a:r>
          </a:p>
          <a:p>
            <a:pPr algn="ctr"/>
            <a:r>
              <a:rPr lang="en-US" altLang="zh-CN" sz="1000" b="1" dirty="0">
                <a:solidFill>
                  <a:schemeClr val="tx1"/>
                </a:solidFill>
              </a:rPr>
              <a:t>- </a:t>
            </a:r>
            <a:r>
              <a:rPr lang="zh-CN" altLang="en-US" sz="1000" b="1" dirty="0">
                <a:solidFill>
                  <a:schemeClr val="tx1"/>
                </a:solidFill>
              </a:rPr>
              <a:t>时间戳有效</a:t>
            </a:r>
          </a:p>
        </p:txBody>
      </p:sp>
      <p:sp>
        <p:nvSpPr>
          <p:cNvPr id="46" name="流程图: 过程 45">
            <a:extLst>
              <a:ext uri="{FF2B5EF4-FFF2-40B4-BE49-F238E27FC236}">
                <a16:creationId xmlns:a16="http://schemas.microsoft.com/office/drawing/2014/main" id="{CB39DAFC-3483-A092-927A-A3304EE9A535}"/>
              </a:ext>
            </a:extLst>
          </p:cNvPr>
          <p:cNvSpPr/>
          <p:nvPr/>
        </p:nvSpPr>
        <p:spPr>
          <a:xfrm>
            <a:off x="465624" y="1645812"/>
            <a:ext cx="1926857" cy="248209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injectForgedJointState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47" name="流程图: 过程 46">
            <a:extLst>
              <a:ext uri="{FF2B5EF4-FFF2-40B4-BE49-F238E27FC236}">
                <a16:creationId xmlns:a16="http://schemas.microsoft.com/office/drawing/2014/main" id="{A95984B8-1E4F-E9E3-098A-6F32ADE9DFB6}"/>
              </a:ext>
            </a:extLst>
          </p:cNvPr>
          <p:cNvSpPr/>
          <p:nvPr/>
        </p:nvSpPr>
        <p:spPr>
          <a:xfrm>
            <a:off x="1677128" y="2948242"/>
            <a:ext cx="2120987" cy="259761"/>
          </a:xfrm>
          <a:prstGeom prst="flowChartProcess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legitimatePublisher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16E6E32D-23D8-DB39-5200-DAAA6252B05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2392480" y="4508066"/>
            <a:ext cx="856739" cy="283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F6E89D4B-1F77-95B8-60A3-917D4364BFAE}"/>
              </a:ext>
            </a:extLst>
          </p:cNvPr>
          <p:cNvCxnSpPr>
            <a:cxnSpLocks/>
            <a:stCxn id="47" idx="3"/>
            <a:endCxn id="60" idx="1"/>
          </p:cNvCxnSpPr>
          <p:nvPr/>
        </p:nvCxnSpPr>
        <p:spPr>
          <a:xfrm>
            <a:off x="3798115" y="3078123"/>
            <a:ext cx="414533" cy="35679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007F0B5F-8C1D-2136-BA74-E014EAD42FCA}"/>
              </a:ext>
            </a:extLst>
          </p:cNvPr>
          <p:cNvCxnSpPr>
            <a:cxnSpLocks/>
            <a:stCxn id="46" idx="2"/>
            <a:endCxn id="21" idx="1"/>
          </p:cNvCxnSpPr>
          <p:nvPr/>
        </p:nvCxnSpPr>
        <p:spPr>
          <a:xfrm>
            <a:off x="1429053" y="1894021"/>
            <a:ext cx="1459483" cy="3378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流程图: 过程 52">
            <a:extLst>
              <a:ext uri="{FF2B5EF4-FFF2-40B4-BE49-F238E27FC236}">
                <a16:creationId xmlns:a16="http://schemas.microsoft.com/office/drawing/2014/main" id="{23061A1D-9BB7-E5A7-EDC9-E2EEF9810884}"/>
              </a:ext>
            </a:extLst>
          </p:cNvPr>
          <p:cNvSpPr/>
          <p:nvPr/>
        </p:nvSpPr>
        <p:spPr>
          <a:xfrm>
            <a:off x="6450574" y="3310817"/>
            <a:ext cx="1926857" cy="248209"/>
          </a:xfrm>
          <a:prstGeom prst="flowChartProcess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oscillatingPoseDisplay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54" name="流程图: 过程 53">
            <a:extLst>
              <a:ext uri="{FF2B5EF4-FFF2-40B4-BE49-F238E27FC236}">
                <a16:creationId xmlns:a16="http://schemas.microsoft.com/office/drawing/2014/main" id="{A8DEF697-6025-9D6A-6092-C4A86C36B47A}"/>
              </a:ext>
            </a:extLst>
          </p:cNvPr>
          <p:cNvSpPr/>
          <p:nvPr/>
        </p:nvSpPr>
        <p:spPr>
          <a:xfrm>
            <a:off x="465625" y="4381023"/>
            <a:ext cx="1926855" cy="259761"/>
          </a:xfrm>
          <a:prstGeom prst="flowChartProcess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propagateToBridge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</p:txBody>
      </p:sp>
      <p:sp>
        <p:nvSpPr>
          <p:cNvPr id="55" name="流程图: 过程 54">
            <a:extLst>
              <a:ext uri="{FF2B5EF4-FFF2-40B4-BE49-F238E27FC236}">
                <a16:creationId xmlns:a16="http://schemas.microsoft.com/office/drawing/2014/main" id="{3E465E17-6726-4E67-89A9-0BD0AC194BDF}"/>
              </a:ext>
            </a:extLst>
          </p:cNvPr>
          <p:cNvSpPr/>
          <p:nvPr/>
        </p:nvSpPr>
        <p:spPr>
          <a:xfrm>
            <a:off x="3249219" y="4383961"/>
            <a:ext cx="1926857" cy="248209"/>
          </a:xfrm>
          <a:prstGeom prst="flowChartProcess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physicalLayerRisk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60" name="流程图: 过程 59">
            <a:extLst>
              <a:ext uri="{FF2B5EF4-FFF2-40B4-BE49-F238E27FC236}">
                <a16:creationId xmlns:a16="http://schemas.microsoft.com/office/drawing/2014/main" id="{DA7D02B2-0AD2-04F6-3E81-C1449BC3F0B0}"/>
              </a:ext>
            </a:extLst>
          </p:cNvPr>
          <p:cNvSpPr/>
          <p:nvPr/>
        </p:nvSpPr>
        <p:spPr>
          <a:xfrm>
            <a:off x="4212648" y="3310817"/>
            <a:ext cx="1926857" cy="248209"/>
          </a:xfrm>
          <a:prstGeom prst="flowChartProcess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competingPublisherState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65" name="流程图: 过程 64">
            <a:extLst>
              <a:ext uri="{FF2B5EF4-FFF2-40B4-BE49-F238E27FC236}">
                <a16:creationId xmlns:a16="http://schemas.microsoft.com/office/drawing/2014/main" id="{F8FF36C8-EFD0-88A5-3FF6-8143DAB54393}"/>
              </a:ext>
            </a:extLst>
          </p:cNvPr>
          <p:cNvSpPr/>
          <p:nvPr/>
        </p:nvSpPr>
        <p:spPr>
          <a:xfrm>
            <a:off x="1677127" y="3565681"/>
            <a:ext cx="2120987" cy="259761"/>
          </a:xfrm>
          <a:prstGeom prst="flowChartProcess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maliciousPublisher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CF2F6D7A-A17B-F912-1AEA-E61FC4EE2024}"/>
              </a:ext>
            </a:extLst>
          </p:cNvPr>
          <p:cNvCxnSpPr>
            <a:cxnSpLocks/>
            <a:stCxn id="65" idx="3"/>
            <a:endCxn id="60" idx="1"/>
          </p:cNvCxnSpPr>
          <p:nvPr/>
        </p:nvCxnSpPr>
        <p:spPr>
          <a:xfrm flipV="1">
            <a:off x="3798114" y="3434922"/>
            <a:ext cx="414534" cy="26064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D1E27D12-635B-F76B-1B1D-8B2A57C387B0}"/>
              </a:ext>
            </a:extLst>
          </p:cNvPr>
          <p:cNvCxnSpPr>
            <a:cxnSpLocks/>
            <a:stCxn id="60" idx="3"/>
            <a:endCxn id="53" idx="1"/>
          </p:cNvCxnSpPr>
          <p:nvPr/>
        </p:nvCxnSpPr>
        <p:spPr>
          <a:xfrm>
            <a:off x="6139505" y="3434922"/>
            <a:ext cx="31106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9FD1758F-7E68-00BE-44CC-219264EFC865}"/>
              </a:ext>
            </a:extLst>
          </p:cNvPr>
          <p:cNvSpPr txBox="1"/>
          <p:nvPr/>
        </p:nvSpPr>
        <p:spPr>
          <a:xfrm>
            <a:off x="226577" y="243733"/>
            <a:ext cx="2927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75000"/>
                  </a:schemeClr>
                </a:solidFill>
              </a:rPr>
              <a:t>主链：显示层状态欺骗主链</a:t>
            </a:r>
            <a:endParaRPr lang="en-US" altLang="zh-CN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EC2A57A3-E7D9-44A0-F861-07EFD38941FC}"/>
              </a:ext>
            </a:extLst>
          </p:cNvPr>
          <p:cNvSpPr txBox="1"/>
          <p:nvPr/>
        </p:nvSpPr>
        <p:spPr>
          <a:xfrm>
            <a:off x="4282345" y="2817237"/>
            <a:ext cx="29270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chemeClr val="bg2">
                    <a:lumMod val="75000"/>
                  </a:schemeClr>
                </a:solidFill>
              </a:rPr>
              <a:t>扩展链 </a:t>
            </a:r>
            <a:r>
              <a:rPr lang="en-US" altLang="zh-CN" sz="1400" b="1" dirty="0">
                <a:solidFill>
                  <a:schemeClr val="bg2">
                    <a:lumMod val="75000"/>
                  </a:schemeClr>
                </a:solidFill>
              </a:rPr>
              <a:t>A</a:t>
            </a:r>
            <a:r>
              <a:rPr lang="zh-CN" altLang="en-US" sz="1400" b="1" dirty="0">
                <a:solidFill>
                  <a:schemeClr val="bg2">
                    <a:lumMod val="75000"/>
                  </a:schemeClr>
                </a:solidFill>
              </a:rPr>
              <a:t>：竞争性 </a:t>
            </a:r>
            <a:r>
              <a:rPr lang="en-US" altLang="zh-CN" sz="1400" b="1" dirty="0">
                <a:solidFill>
                  <a:schemeClr val="bg2">
                    <a:lumMod val="75000"/>
                  </a:schemeClr>
                </a:solidFill>
              </a:rPr>
              <a:t>publisher </a:t>
            </a:r>
            <a:r>
              <a:rPr lang="zh-CN" altLang="en-US" sz="1400" b="1" dirty="0">
                <a:solidFill>
                  <a:schemeClr val="bg2">
                    <a:lumMod val="75000"/>
                  </a:schemeClr>
                </a:solidFill>
              </a:rPr>
              <a:t>风险</a:t>
            </a:r>
            <a:endParaRPr lang="en-US" altLang="zh-CN" sz="1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DB39FEB6-194E-7A2E-F7BF-524215E5AB8B}"/>
              </a:ext>
            </a:extLst>
          </p:cNvPr>
          <p:cNvSpPr txBox="1"/>
          <p:nvPr/>
        </p:nvSpPr>
        <p:spPr>
          <a:xfrm>
            <a:off x="4175909" y="4052361"/>
            <a:ext cx="29270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chemeClr val="bg2">
                    <a:lumMod val="75000"/>
                  </a:schemeClr>
                </a:solidFill>
              </a:rPr>
              <a:t>扩展链 </a:t>
            </a:r>
            <a:r>
              <a:rPr lang="en-US" altLang="zh-CN" sz="1400" b="1" dirty="0">
                <a:solidFill>
                  <a:schemeClr val="bg2">
                    <a:lumMod val="75000"/>
                  </a:schemeClr>
                </a:solidFill>
              </a:rPr>
              <a:t>B</a:t>
            </a:r>
            <a:r>
              <a:rPr lang="zh-CN" altLang="en-US" sz="1400" b="1" dirty="0">
                <a:solidFill>
                  <a:schemeClr val="bg2">
                    <a:lumMod val="75000"/>
                  </a:schemeClr>
                </a:solidFill>
              </a:rPr>
              <a:t>：物理层传播风险</a:t>
            </a:r>
            <a:endParaRPr lang="en-US" altLang="zh-CN" sz="1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33A5EC64-E7CF-F859-A057-7CB80D72754E}"/>
              </a:ext>
            </a:extLst>
          </p:cNvPr>
          <p:cNvCxnSpPr>
            <a:cxnSpLocks/>
            <a:stCxn id="46" idx="2"/>
            <a:endCxn id="54" idx="0"/>
          </p:cNvCxnSpPr>
          <p:nvPr/>
        </p:nvCxnSpPr>
        <p:spPr>
          <a:xfrm>
            <a:off x="1429053" y="1894021"/>
            <a:ext cx="0" cy="248700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4894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74876-716B-91C3-A904-3A56C282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EAAF673E-7C93-94CB-2A82-904C237DB1DF}"/>
              </a:ext>
            </a:extLst>
          </p:cNvPr>
          <p:cNvSpPr/>
          <p:nvPr/>
        </p:nvSpPr>
        <p:spPr>
          <a:xfrm>
            <a:off x="465623" y="1069617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enumerateTopic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D38E6D92-2809-BC8F-43A8-91AE25D8747D}"/>
              </a:ext>
            </a:extLst>
          </p:cNvPr>
          <p:cNvSpPr/>
          <p:nvPr/>
        </p:nvSpPr>
        <p:spPr>
          <a:xfrm>
            <a:off x="2888538" y="1067953"/>
            <a:ext cx="1926855" cy="259761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learnMessageSchema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0CC43E07-B016-DC7E-92BA-F63F965DC046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4815391" y="2231897"/>
            <a:ext cx="930467" cy="5776"/>
          </a:xfrm>
          <a:prstGeom prst="straightConnector1">
            <a:avLst/>
          </a:prstGeom>
          <a:ln w="381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B206574D-F155-F64E-6920-162DBBBBC427}"/>
              </a:ext>
            </a:extLst>
          </p:cNvPr>
          <p:cNvCxnSpPr>
            <a:cxnSpLocks/>
            <a:stCxn id="20" idx="2"/>
            <a:endCxn id="7" idx="3"/>
          </p:cNvCxnSpPr>
          <p:nvPr/>
        </p:nvCxnSpPr>
        <p:spPr>
          <a:xfrm flipH="1">
            <a:off x="5915365" y="1323220"/>
            <a:ext cx="224141" cy="43915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CD664460-C963-A8B7-1BEA-B62B078B7A1B}"/>
              </a:ext>
            </a:extLst>
          </p:cNvPr>
          <p:cNvCxnSpPr>
            <a:cxnSpLocks/>
            <a:stCxn id="5" idx="3"/>
            <a:endCxn id="20" idx="1"/>
          </p:cNvCxnSpPr>
          <p:nvPr/>
        </p:nvCxnSpPr>
        <p:spPr>
          <a:xfrm>
            <a:off x="4815393" y="1197834"/>
            <a:ext cx="360684" cy="128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A3D7AA8B-3ADC-F437-A5B1-C3D09A15D063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2392480" y="1193722"/>
            <a:ext cx="496058" cy="411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C9968592-383C-07E7-C4F7-9FCC9012BDCE}"/>
              </a:ext>
            </a:extLst>
          </p:cNvPr>
          <p:cNvSpPr/>
          <p:nvPr/>
        </p:nvSpPr>
        <p:spPr>
          <a:xfrm>
            <a:off x="5176077" y="1075011"/>
            <a:ext cx="1926857" cy="2482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forgeValidJointState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E8309CF2-A169-05A8-68E3-35E3409E203D}"/>
              </a:ext>
            </a:extLst>
          </p:cNvPr>
          <p:cNvSpPr/>
          <p:nvPr/>
        </p:nvSpPr>
        <p:spPr>
          <a:xfrm>
            <a:off x="2888536" y="2102016"/>
            <a:ext cx="1926855" cy="259761"/>
          </a:xfrm>
          <a:prstGeom prst="flowChartProcess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tamperTFStream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8A903BB2-66ED-9C1C-16A0-C81C320C0A42}"/>
              </a:ext>
            </a:extLst>
          </p:cNvPr>
          <p:cNvSpPr/>
          <p:nvPr/>
        </p:nvSpPr>
        <p:spPr>
          <a:xfrm>
            <a:off x="5745858" y="2113568"/>
            <a:ext cx="1926857" cy="248209"/>
          </a:xfrm>
          <a:prstGeom prst="flowChartProcess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misleadPoseDisplay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45" name="标注: 下箭头 44">
            <a:extLst>
              <a:ext uri="{FF2B5EF4-FFF2-40B4-BE49-F238E27FC236}">
                <a16:creationId xmlns:a16="http://schemas.microsoft.com/office/drawing/2014/main" id="{4CF02BE5-5390-5988-DC34-AB478E817815}"/>
              </a:ext>
            </a:extLst>
          </p:cNvPr>
          <p:cNvSpPr/>
          <p:nvPr/>
        </p:nvSpPr>
        <p:spPr>
          <a:xfrm>
            <a:off x="5335595" y="158718"/>
            <a:ext cx="1607820" cy="895905"/>
          </a:xfrm>
          <a:prstGeom prst="downArrow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solidFill>
                  <a:schemeClr val="tx1"/>
                </a:solidFill>
              </a:rPr>
              <a:t>关键条件</a:t>
            </a:r>
          </a:p>
          <a:p>
            <a:pPr algn="ctr"/>
            <a:r>
              <a:rPr lang="en-US" altLang="zh-CN" sz="1000" b="1" dirty="0">
                <a:solidFill>
                  <a:schemeClr val="tx1"/>
                </a:solidFill>
              </a:rPr>
              <a:t>- </a:t>
            </a:r>
            <a:r>
              <a:rPr lang="zh-CN" altLang="en-US" sz="1000" b="1" dirty="0">
                <a:solidFill>
                  <a:schemeClr val="tx1"/>
                </a:solidFill>
              </a:rPr>
              <a:t>关节名称匹配</a:t>
            </a:r>
          </a:p>
          <a:p>
            <a:pPr algn="ctr"/>
            <a:r>
              <a:rPr lang="en-US" altLang="zh-CN" sz="1000" b="1" dirty="0">
                <a:solidFill>
                  <a:schemeClr val="tx1"/>
                </a:solidFill>
              </a:rPr>
              <a:t>- </a:t>
            </a:r>
            <a:r>
              <a:rPr lang="zh-CN" altLang="en-US" sz="1000" b="1" dirty="0">
                <a:solidFill>
                  <a:schemeClr val="tx1"/>
                </a:solidFill>
              </a:rPr>
              <a:t>关节范围合法</a:t>
            </a:r>
          </a:p>
          <a:p>
            <a:pPr algn="ctr"/>
            <a:r>
              <a:rPr lang="en-US" altLang="zh-CN" sz="1000" b="1" dirty="0">
                <a:solidFill>
                  <a:schemeClr val="tx1"/>
                </a:solidFill>
              </a:rPr>
              <a:t>- </a:t>
            </a:r>
            <a:r>
              <a:rPr lang="zh-CN" altLang="en-US" sz="1000" b="1" dirty="0">
                <a:solidFill>
                  <a:schemeClr val="tx1"/>
                </a:solidFill>
              </a:rPr>
              <a:t>时间戳有效</a:t>
            </a:r>
          </a:p>
        </p:txBody>
      </p:sp>
      <p:sp>
        <p:nvSpPr>
          <p:cNvPr id="46" name="流程图: 过程 45">
            <a:extLst>
              <a:ext uri="{FF2B5EF4-FFF2-40B4-BE49-F238E27FC236}">
                <a16:creationId xmlns:a16="http://schemas.microsoft.com/office/drawing/2014/main" id="{DF385799-33F0-77B4-3DAA-438E85B0157D}"/>
              </a:ext>
            </a:extLst>
          </p:cNvPr>
          <p:cNvSpPr/>
          <p:nvPr/>
        </p:nvSpPr>
        <p:spPr>
          <a:xfrm>
            <a:off x="439873" y="1626314"/>
            <a:ext cx="1926857" cy="248209"/>
          </a:xfrm>
          <a:prstGeom prst="flowChartProcess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injectForgedJointState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47" name="流程图: 过程 46">
            <a:extLst>
              <a:ext uri="{FF2B5EF4-FFF2-40B4-BE49-F238E27FC236}">
                <a16:creationId xmlns:a16="http://schemas.microsoft.com/office/drawing/2014/main" id="{8EF80787-DE8B-2713-2E73-0B59233715EC}"/>
              </a:ext>
            </a:extLst>
          </p:cNvPr>
          <p:cNvSpPr/>
          <p:nvPr/>
        </p:nvSpPr>
        <p:spPr>
          <a:xfrm>
            <a:off x="1596494" y="2903133"/>
            <a:ext cx="2120987" cy="259761"/>
          </a:xfrm>
          <a:prstGeom prst="flowChartProcess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legitimatePublisher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C8F08EEE-381D-AEF5-E448-BCDA38FF347C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2366728" y="4502290"/>
            <a:ext cx="882491" cy="5776"/>
          </a:xfrm>
          <a:prstGeom prst="straightConnector1">
            <a:avLst/>
          </a:prstGeom>
          <a:ln w="381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9639259E-C258-B8FC-0EFF-89AEFC3C1AC9}"/>
              </a:ext>
            </a:extLst>
          </p:cNvPr>
          <p:cNvCxnSpPr>
            <a:cxnSpLocks/>
            <a:stCxn id="47" idx="3"/>
            <a:endCxn id="15" idx="1"/>
          </p:cNvCxnSpPr>
          <p:nvPr/>
        </p:nvCxnSpPr>
        <p:spPr>
          <a:xfrm>
            <a:off x="3717481" y="3033014"/>
            <a:ext cx="134482" cy="28151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672B4304-BD02-C42A-9B10-AA9BE44800D4}"/>
              </a:ext>
            </a:extLst>
          </p:cNvPr>
          <p:cNvCxnSpPr>
            <a:cxnSpLocks/>
            <a:stCxn id="46" idx="2"/>
            <a:endCxn id="21" idx="1"/>
          </p:cNvCxnSpPr>
          <p:nvPr/>
        </p:nvCxnSpPr>
        <p:spPr>
          <a:xfrm>
            <a:off x="1403302" y="1874523"/>
            <a:ext cx="1485234" cy="357374"/>
          </a:xfrm>
          <a:prstGeom prst="straightConnector1">
            <a:avLst/>
          </a:prstGeom>
          <a:ln w="381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流程图: 过程 52">
            <a:extLst>
              <a:ext uri="{FF2B5EF4-FFF2-40B4-BE49-F238E27FC236}">
                <a16:creationId xmlns:a16="http://schemas.microsoft.com/office/drawing/2014/main" id="{B77EB25B-75D5-53E8-44E5-05B43D3FC6AC}"/>
              </a:ext>
            </a:extLst>
          </p:cNvPr>
          <p:cNvSpPr/>
          <p:nvPr/>
        </p:nvSpPr>
        <p:spPr>
          <a:xfrm>
            <a:off x="6650646" y="3719077"/>
            <a:ext cx="1926857" cy="248209"/>
          </a:xfrm>
          <a:prstGeom prst="flowChartProcess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oscillatingPoseDisplay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54" name="流程图: 过程 53">
            <a:extLst>
              <a:ext uri="{FF2B5EF4-FFF2-40B4-BE49-F238E27FC236}">
                <a16:creationId xmlns:a16="http://schemas.microsoft.com/office/drawing/2014/main" id="{AD1D1BD7-7E9D-2DB2-8130-0124CD80CB18}"/>
              </a:ext>
            </a:extLst>
          </p:cNvPr>
          <p:cNvSpPr/>
          <p:nvPr/>
        </p:nvSpPr>
        <p:spPr>
          <a:xfrm>
            <a:off x="439873" y="4372409"/>
            <a:ext cx="1926855" cy="259761"/>
          </a:xfrm>
          <a:prstGeom prst="flowChartProcess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propagateToBridge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</p:txBody>
      </p:sp>
      <p:sp>
        <p:nvSpPr>
          <p:cNvPr id="55" name="流程图: 过程 54">
            <a:extLst>
              <a:ext uri="{FF2B5EF4-FFF2-40B4-BE49-F238E27FC236}">
                <a16:creationId xmlns:a16="http://schemas.microsoft.com/office/drawing/2014/main" id="{02165030-BA77-9FCE-2A64-410BD3D060AD}"/>
              </a:ext>
            </a:extLst>
          </p:cNvPr>
          <p:cNvSpPr/>
          <p:nvPr/>
        </p:nvSpPr>
        <p:spPr>
          <a:xfrm>
            <a:off x="3249219" y="4383961"/>
            <a:ext cx="1926857" cy="248209"/>
          </a:xfrm>
          <a:prstGeom prst="flowChartProcess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physicalLayerRisk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60" name="流程图: 过程 59">
            <a:extLst>
              <a:ext uri="{FF2B5EF4-FFF2-40B4-BE49-F238E27FC236}">
                <a16:creationId xmlns:a16="http://schemas.microsoft.com/office/drawing/2014/main" id="{C531D310-D6EC-FB2D-EDFD-816809814347}"/>
              </a:ext>
            </a:extLst>
          </p:cNvPr>
          <p:cNvSpPr/>
          <p:nvPr/>
        </p:nvSpPr>
        <p:spPr>
          <a:xfrm>
            <a:off x="6244494" y="3190422"/>
            <a:ext cx="1926857" cy="248209"/>
          </a:xfrm>
          <a:prstGeom prst="flowChartProcess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competingPublisherState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sp>
        <p:nvSpPr>
          <p:cNvPr id="65" name="流程图: 过程 64">
            <a:extLst>
              <a:ext uri="{FF2B5EF4-FFF2-40B4-BE49-F238E27FC236}">
                <a16:creationId xmlns:a16="http://schemas.microsoft.com/office/drawing/2014/main" id="{B7FFE8A4-3D43-8BAB-8EDA-FB4F73F1A7E8}"/>
              </a:ext>
            </a:extLst>
          </p:cNvPr>
          <p:cNvSpPr/>
          <p:nvPr/>
        </p:nvSpPr>
        <p:spPr>
          <a:xfrm>
            <a:off x="1596493" y="3520572"/>
            <a:ext cx="2120987" cy="259761"/>
          </a:xfrm>
          <a:prstGeom prst="flowChartProcess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maliciousPublisher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E6215742-8BF1-4268-BBA9-97CAC50602EA}"/>
              </a:ext>
            </a:extLst>
          </p:cNvPr>
          <p:cNvCxnSpPr>
            <a:cxnSpLocks/>
            <a:stCxn id="65" idx="3"/>
            <a:endCxn id="15" idx="1"/>
          </p:cNvCxnSpPr>
          <p:nvPr/>
        </p:nvCxnSpPr>
        <p:spPr>
          <a:xfrm flipV="1">
            <a:off x="3717480" y="3314528"/>
            <a:ext cx="134483" cy="33592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57993D78-6563-906A-DE0D-C18D89305F7A}"/>
              </a:ext>
            </a:extLst>
          </p:cNvPr>
          <p:cNvCxnSpPr>
            <a:cxnSpLocks/>
            <a:stCxn id="60" idx="2"/>
            <a:endCxn id="53" idx="0"/>
          </p:cNvCxnSpPr>
          <p:nvPr/>
        </p:nvCxnSpPr>
        <p:spPr>
          <a:xfrm>
            <a:off x="7207923" y="3438631"/>
            <a:ext cx="406152" cy="280446"/>
          </a:xfrm>
          <a:prstGeom prst="straightConnector1">
            <a:avLst/>
          </a:prstGeom>
          <a:ln w="381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0198061-0BAF-1145-8413-520A40B503F8}"/>
              </a:ext>
            </a:extLst>
          </p:cNvPr>
          <p:cNvSpPr txBox="1"/>
          <p:nvPr/>
        </p:nvSpPr>
        <p:spPr>
          <a:xfrm>
            <a:off x="226577" y="243733"/>
            <a:ext cx="2927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75000"/>
                  </a:schemeClr>
                </a:solidFill>
              </a:rPr>
              <a:t>主链：显示层状态欺骗主链</a:t>
            </a:r>
            <a:endParaRPr lang="en-US" altLang="zh-CN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B0B772F-A931-1517-1C7E-C22541681009}"/>
              </a:ext>
            </a:extLst>
          </p:cNvPr>
          <p:cNvSpPr txBox="1"/>
          <p:nvPr/>
        </p:nvSpPr>
        <p:spPr>
          <a:xfrm>
            <a:off x="4212647" y="2770481"/>
            <a:ext cx="29270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chemeClr val="bg2">
                    <a:lumMod val="75000"/>
                  </a:schemeClr>
                </a:solidFill>
              </a:rPr>
              <a:t>扩展链 </a:t>
            </a:r>
            <a:r>
              <a:rPr lang="en-US" altLang="zh-CN" sz="1400" b="1" dirty="0">
                <a:solidFill>
                  <a:schemeClr val="bg2">
                    <a:lumMod val="75000"/>
                  </a:schemeClr>
                </a:solidFill>
              </a:rPr>
              <a:t>A</a:t>
            </a:r>
            <a:r>
              <a:rPr lang="zh-CN" altLang="en-US" sz="1400" b="1" dirty="0">
                <a:solidFill>
                  <a:schemeClr val="bg2">
                    <a:lumMod val="75000"/>
                  </a:schemeClr>
                </a:solidFill>
              </a:rPr>
              <a:t>：竞争性 </a:t>
            </a:r>
            <a:r>
              <a:rPr lang="en-US" altLang="zh-CN" sz="1400" b="1" dirty="0">
                <a:solidFill>
                  <a:schemeClr val="bg2">
                    <a:lumMod val="75000"/>
                  </a:schemeClr>
                </a:solidFill>
              </a:rPr>
              <a:t>publisher </a:t>
            </a:r>
            <a:r>
              <a:rPr lang="zh-CN" altLang="en-US" sz="1400" b="1" dirty="0">
                <a:solidFill>
                  <a:schemeClr val="bg2">
                    <a:lumMod val="75000"/>
                  </a:schemeClr>
                </a:solidFill>
              </a:rPr>
              <a:t>风险</a:t>
            </a:r>
            <a:endParaRPr lang="en-US" altLang="zh-CN" sz="1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D8E6E05-A050-08CD-E848-F6D9A497AF46}"/>
              </a:ext>
            </a:extLst>
          </p:cNvPr>
          <p:cNvSpPr txBox="1"/>
          <p:nvPr/>
        </p:nvSpPr>
        <p:spPr>
          <a:xfrm>
            <a:off x="2601681" y="4024027"/>
            <a:ext cx="29270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chemeClr val="bg2">
                    <a:lumMod val="75000"/>
                  </a:schemeClr>
                </a:solidFill>
              </a:rPr>
              <a:t>扩展链 </a:t>
            </a:r>
            <a:r>
              <a:rPr lang="en-US" altLang="zh-CN" sz="1400" b="1" dirty="0">
                <a:solidFill>
                  <a:schemeClr val="bg2">
                    <a:lumMod val="75000"/>
                  </a:schemeClr>
                </a:solidFill>
              </a:rPr>
              <a:t>B</a:t>
            </a:r>
            <a:r>
              <a:rPr lang="zh-CN" altLang="en-US" sz="1400" b="1" dirty="0">
                <a:solidFill>
                  <a:schemeClr val="bg2">
                    <a:lumMod val="75000"/>
                  </a:schemeClr>
                </a:solidFill>
              </a:rPr>
              <a:t>：物理层传播风险</a:t>
            </a:r>
            <a:endParaRPr lang="en-US" altLang="zh-CN" sz="1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3936F47F-814A-0786-34F7-C5332055BD9C}"/>
              </a:ext>
            </a:extLst>
          </p:cNvPr>
          <p:cNvCxnSpPr>
            <a:cxnSpLocks/>
            <a:stCxn id="46" idx="2"/>
            <a:endCxn id="54" idx="0"/>
          </p:cNvCxnSpPr>
          <p:nvPr/>
        </p:nvCxnSpPr>
        <p:spPr>
          <a:xfrm flipH="1">
            <a:off x="1403301" y="1874523"/>
            <a:ext cx="1" cy="2497886"/>
          </a:xfrm>
          <a:prstGeom prst="straightConnector1">
            <a:avLst/>
          </a:prstGeom>
          <a:ln w="381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流程图: 过程 6">
            <a:extLst>
              <a:ext uri="{FF2B5EF4-FFF2-40B4-BE49-F238E27FC236}">
                <a16:creationId xmlns:a16="http://schemas.microsoft.com/office/drawing/2014/main" id="{082CE44C-2432-29C6-D217-31AE87814D0E}"/>
              </a:ext>
            </a:extLst>
          </p:cNvPr>
          <p:cNvSpPr/>
          <p:nvPr/>
        </p:nvSpPr>
        <p:spPr>
          <a:xfrm>
            <a:off x="3988510" y="1557728"/>
            <a:ext cx="1926855" cy="409293"/>
          </a:xfrm>
          <a:prstGeom prst="flowChart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topicAuthEnabled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publisherACLEnabled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47E24244-4B59-1C01-5887-B3493D09A1D8}"/>
              </a:ext>
            </a:extLst>
          </p:cNvPr>
          <p:cNvCxnSpPr>
            <a:cxnSpLocks/>
            <a:stCxn id="7" idx="1"/>
            <a:endCxn id="46" idx="3"/>
          </p:cNvCxnSpPr>
          <p:nvPr/>
        </p:nvCxnSpPr>
        <p:spPr>
          <a:xfrm flipH="1" flipV="1">
            <a:off x="2366730" y="1750419"/>
            <a:ext cx="1621780" cy="119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乘号 13">
            <a:extLst>
              <a:ext uri="{FF2B5EF4-FFF2-40B4-BE49-F238E27FC236}">
                <a16:creationId xmlns:a16="http://schemas.microsoft.com/office/drawing/2014/main" id="{0DC33E87-D121-C093-DF3C-957F4D4961AA}"/>
              </a:ext>
            </a:extLst>
          </p:cNvPr>
          <p:cNvSpPr/>
          <p:nvPr/>
        </p:nvSpPr>
        <p:spPr>
          <a:xfrm>
            <a:off x="3059678" y="1638343"/>
            <a:ext cx="242885" cy="244776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流程图: 过程 14">
            <a:extLst>
              <a:ext uri="{FF2B5EF4-FFF2-40B4-BE49-F238E27FC236}">
                <a16:creationId xmlns:a16="http://schemas.microsoft.com/office/drawing/2014/main" id="{9C234615-7677-9E1E-A070-3FC0EB127EED}"/>
              </a:ext>
            </a:extLst>
          </p:cNvPr>
          <p:cNvSpPr/>
          <p:nvPr/>
        </p:nvSpPr>
        <p:spPr>
          <a:xfrm>
            <a:off x="3851963" y="3184647"/>
            <a:ext cx="1926855" cy="259761"/>
          </a:xfrm>
          <a:prstGeom prst="flowChart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singleAuthoritativePublisher</a:t>
            </a:r>
            <a:r>
              <a:rPr lang="en-US" altLang="zh-CN" sz="1013" b="1" dirty="0">
                <a:solidFill>
                  <a:schemeClr val="tx1"/>
                </a:solidFill>
              </a:rPr>
              <a:t>(...)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B74CB265-03D2-B463-B49A-D7691295581A}"/>
              </a:ext>
            </a:extLst>
          </p:cNvPr>
          <p:cNvCxnSpPr>
            <a:cxnSpLocks/>
            <a:stCxn id="15" idx="3"/>
            <a:endCxn id="60" idx="1"/>
          </p:cNvCxnSpPr>
          <p:nvPr/>
        </p:nvCxnSpPr>
        <p:spPr>
          <a:xfrm flipV="1">
            <a:off x="5778818" y="3314527"/>
            <a:ext cx="465676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乘号 35">
            <a:extLst>
              <a:ext uri="{FF2B5EF4-FFF2-40B4-BE49-F238E27FC236}">
                <a16:creationId xmlns:a16="http://schemas.microsoft.com/office/drawing/2014/main" id="{E5DF5B68-A437-B55C-38A7-3B1348C0A6C7}"/>
              </a:ext>
            </a:extLst>
          </p:cNvPr>
          <p:cNvSpPr/>
          <p:nvPr/>
        </p:nvSpPr>
        <p:spPr>
          <a:xfrm>
            <a:off x="5884587" y="3192138"/>
            <a:ext cx="242885" cy="244776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30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8974E-8F3A-72D4-0509-6DD096A3C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98F49790-B46B-0E34-81C4-EAF6F04D4E87}"/>
              </a:ext>
            </a:extLst>
          </p:cNvPr>
          <p:cNvSpPr/>
          <p:nvPr/>
        </p:nvSpPr>
        <p:spPr>
          <a:xfrm>
            <a:off x="4211765" y="210137"/>
            <a:ext cx="3134813" cy="40300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joint_state_publisher_gui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发布关节状态</a:t>
            </a: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F5D8549E-2A73-E0FA-528D-D3BECE09A832}"/>
              </a:ext>
            </a:extLst>
          </p:cNvPr>
          <p:cNvSpPr/>
          <p:nvPr/>
        </p:nvSpPr>
        <p:spPr>
          <a:xfrm>
            <a:off x="4211767" y="1020959"/>
            <a:ext cx="3134811" cy="403009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/_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joint_states_authorized_source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原始输入层</a:t>
            </a:r>
            <a:r>
              <a:rPr lang="en-US" altLang="zh-CN" sz="1013" b="1" dirty="0">
                <a:solidFill>
                  <a:schemeClr val="tx1"/>
                </a:solidFill>
              </a:rPr>
              <a:t>: </a:t>
            </a:r>
            <a:r>
              <a:rPr lang="zh-CN" altLang="en-US" sz="1013" b="1" dirty="0">
                <a:solidFill>
                  <a:schemeClr val="tx1"/>
                </a:solidFill>
              </a:rPr>
              <a:t>未直接信任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6" name="流程图: 过程 5">
            <a:extLst>
              <a:ext uri="{FF2B5EF4-FFF2-40B4-BE49-F238E27FC236}">
                <a16:creationId xmlns:a16="http://schemas.microsoft.com/office/drawing/2014/main" id="{D276A3CD-96C6-35E5-A3A0-61CA69252F31}"/>
              </a:ext>
            </a:extLst>
          </p:cNvPr>
          <p:cNvSpPr/>
          <p:nvPr/>
        </p:nvSpPr>
        <p:spPr>
          <a:xfrm>
            <a:off x="4211767" y="1856863"/>
            <a:ext cx="3134811" cy="423885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trusted_joint_state_filter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执行单一 </a:t>
            </a:r>
            <a:r>
              <a:rPr lang="en-US" altLang="zh-CN" sz="1013" b="1" dirty="0">
                <a:solidFill>
                  <a:schemeClr val="tx1"/>
                </a:solidFill>
              </a:rPr>
              <a:t>Publisher / </a:t>
            </a:r>
            <a:r>
              <a:rPr lang="zh-CN" altLang="en-US" sz="1013" b="1" dirty="0">
                <a:solidFill>
                  <a:schemeClr val="tx1"/>
                </a:solidFill>
              </a:rPr>
              <a:t>时间戳 </a:t>
            </a:r>
            <a:r>
              <a:rPr lang="en-US" altLang="zh-CN" sz="1013" b="1" dirty="0">
                <a:solidFill>
                  <a:schemeClr val="tx1"/>
                </a:solidFill>
              </a:rPr>
              <a:t>/ </a:t>
            </a:r>
            <a:r>
              <a:rPr lang="zh-CN" altLang="en-US" sz="1013" b="1" dirty="0">
                <a:solidFill>
                  <a:schemeClr val="tx1"/>
                </a:solidFill>
              </a:rPr>
              <a:t>名称 </a:t>
            </a:r>
            <a:r>
              <a:rPr lang="en-US" altLang="zh-CN" sz="1013" b="1" dirty="0">
                <a:solidFill>
                  <a:schemeClr val="tx1"/>
                </a:solidFill>
              </a:rPr>
              <a:t>/ </a:t>
            </a:r>
            <a:r>
              <a:rPr lang="zh-CN" altLang="en-US" sz="1013" b="1" dirty="0">
                <a:solidFill>
                  <a:schemeClr val="tx1"/>
                </a:solidFill>
              </a:rPr>
              <a:t>范围检查</a:t>
            </a:r>
          </a:p>
        </p:txBody>
      </p:sp>
      <p:sp>
        <p:nvSpPr>
          <p:cNvPr id="7" name="流程图: 过程 6">
            <a:extLst>
              <a:ext uri="{FF2B5EF4-FFF2-40B4-BE49-F238E27FC236}">
                <a16:creationId xmlns:a16="http://schemas.microsoft.com/office/drawing/2014/main" id="{0689EBBB-7812-D9A6-9CA6-673999C0BEFE}"/>
              </a:ext>
            </a:extLst>
          </p:cNvPr>
          <p:cNvSpPr/>
          <p:nvPr/>
        </p:nvSpPr>
        <p:spPr>
          <a:xfrm>
            <a:off x="4211776" y="2713643"/>
            <a:ext cx="3134810" cy="475777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/_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joint_states_trusted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可信输出</a:t>
            </a:r>
            <a:r>
              <a:rPr lang="en-US" altLang="zh-CN" sz="1013" b="1" dirty="0">
                <a:solidFill>
                  <a:schemeClr val="tx1"/>
                </a:solidFill>
              </a:rPr>
              <a:t>: </a:t>
            </a:r>
            <a:r>
              <a:rPr lang="zh-CN" altLang="en-US" sz="1013" b="1" dirty="0">
                <a:solidFill>
                  <a:schemeClr val="tx1"/>
                </a:solidFill>
              </a:rPr>
              <a:t>仅转发通过校验的 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JointState</a:t>
            </a:r>
            <a:endParaRPr lang="en-US" altLang="zh-CN" sz="1013" b="1" dirty="0">
              <a:solidFill>
                <a:schemeClr val="tx1"/>
              </a:solidFill>
            </a:endParaRPr>
          </a:p>
        </p:txBody>
      </p:sp>
      <p:sp>
        <p:nvSpPr>
          <p:cNvPr id="8" name="流程图: 过程 7">
            <a:extLst>
              <a:ext uri="{FF2B5EF4-FFF2-40B4-BE49-F238E27FC236}">
                <a16:creationId xmlns:a16="http://schemas.microsoft.com/office/drawing/2014/main" id="{A5954C12-49F5-1554-F45E-0C8805C5E798}"/>
              </a:ext>
            </a:extLst>
          </p:cNvPr>
          <p:cNvSpPr/>
          <p:nvPr/>
        </p:nvSpPr>
        <p:spPr>
          <a:xfrm>
            <a:off x="4211765" y="4277256"/>
            <a:ext cx="3134801" cy="377930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>
                <a:solidFill>
                  <a:schemeClr val="tx1"/>
                </a:solidFill>
              </a:rPr>
              <a:t>Rviz</a:t>
            </a: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显示机械臂姿态</a:t>
            </a: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FFE780B7-19D0-367A-A331-C29E1CFB063D}"/>
              </a:ext>
            </a:extLst>
          </p:cNvPr>
          <p:cNvCxnSpPr>
            <a:cxnSpLocks/>
            <a:stCxn id="7" idx="2"/>
            <a:endCxn id="20" idx="0"/>
          </p:cNvCxnSpPr>
          <p:nvPr/>
        </p:nvCxnSpPr>
        <p:spPr>
          <a:xfrm flipH="1">
            <a:off x="5779171" y="3189420"/>
            <a:ext cx="10" cy="2886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ED6DEC56-E890-C87C-EB55-EC2A1A096EB0}"/>
              </a:ext>
            </a:extLst>
          </p:cNvPr>
          <p:cNvSpPr txBox="1"/>
          <p:nvPr/>
        </p:nvSpPr>
        <p:spPr>
          <a:xfrm>
            <a:off x="5848503" y="692947"/>
            <a:ext cx="1063112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发布 </a:t>
            </a:r>
            <a:r>
              <a:rPr lang="en-US" altLang="zh-CN" sz="1013" b="1" dirty="0" err="1"/>
              <a:t>JointState</a:t>
            </a:r>
            <a:endParaRPr lang="en-US" altLang="zh-CN" sz="1013" b="1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8E772CC2-62A8-33F6-81FB-056E3FC4B42A}"/>
              </a:ext>
            </a:extLst>
          </p:cNvPr>
          <p:cNvSpPr txBox="1"/>
          <p:nvPr/>
        </p:nvSpPr>
        <p:spPr>
          <a:xfrm>
            <a:off x="5823664" y="1516311"/>
            <a:ext cx="444352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校验</a:t>
            </a:r>
            <a:endParaRPr lang="en-US" altLang="zh-CN" sz="1013" b="1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0B3074F-6B6D-4FD2-959B-B395964E107E}"/>
              </a:ext>
            </a:extLst>
          </p:cNvPr>
          <p:cNvSpPr txBox="1"/>
          <p:nvPr/>
        </p:nvSpPr>
        <p:spPr>
          <a:xfrm>
            <a:off x="5823664" y="2373091"/>
            <a:ext cx="1244251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转发可信</a:t>
            </a:r>
            <a:r>
              <a:rPr lang="en-US" altLang="zh-CN" sz="1013" b="1" dirty="0" err="1"/>
              <a:t>JointState</a:t>
            </a:r>
            <a:endParaRPr lang="en-US" altLang="zh-CN" sz="1013" b="1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71E8F978-70E2-DF49-7D65-D3F2FFE660B7}"/>
              </a:ext>
            </a:extLst>
          </p:cNvPr>
          <p:cNvSpPr txBox="1"/>
          <p:nvPr/>
        </p:nvSpPr>
        <p:spPr>
          <a:xfrm>
            <a:off x="5779170" y="3209645"/>
            <a:ext cx="444352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订阅</a:t>
            </a:r>
            <a:endParaRPr lang="en-US" altLang="zh-CN" sz="1013" b="1" dirty="0"/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EDB324BB-8C1E-0163-BB16-4EE40AA6B71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5779173" y="2280748"/>
            <a:ext cx="8" cy="43289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684BBF74-990C-2A0B-4763-B9D878CCB48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779173" y="1423968"/>
            <a:ext cx="0" cy="43289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CB650743-5D77-CE19-E7A5-591C81EFF394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5779172" y="613146"/>
            <a:ext cx="1" cy="40781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箭头: 左 86">
            <a:extLst>
              <a:ext uri="{FF2B5EF4-FFF2-40B4-BE49-F238E27FC236}">
                <a16:creationId xmlns:a16="http://schemas.microsoft.com/office/drawing/2014/main" id="{51B7BFD6-D003-DE34-9606-507E0EEB09A5}"/>
              </a:ext>
            </a:extLst>
          </p:cNvPr>
          <p:cNvSpPr/>
          <p:nvPr/>
        </p:nvSpPr>
        <p:spPr>
          <a:xfrm>
            <a:off x="7346578" y="948498"/>
            <a:ext cx="1460838" cy="619705"/>
          </a:xfrm>
          <a:prstGeom prst="lef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rgbClr val="FF0000"/>
                </a:solidFill>
              </a:rPr>
              <a:t>原始输入</a:t>
            </a:r>
            <a:endParaRPr lang="en-US" altLang="zh-CN" sz="1013" b="1" dirty="0">
              <a:solidFill>
                <a:srgbClr val="FF0000"/>
              </a:solidFill>
            </a:endParaRPr>
          </a:p>
          <a:p>
            <a:pPr algn="ctr"/>
            <a:r>
              <a:rPr lang="zh-CN" altLang="en-US" sz="1013" b="1" dirty="0">
                <a:solidFill>
                  <a:srgbClr val="FF0000"/>
                </a:solidFill>
              </a:rPr>
              <a:t>待校验</a:t>
            </a:r>
          </a:p>
        </p:txBody>
      </p: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3CB8176B-B050-4E39-FC8A-F3480CEF5C36}"/>
              </a:ext>
            </a:extLst>
          </p:cNvPr>
          <p:cNvSpPr/>
          <p:nvPr/>
        </p:nvSpPr>
        <p:spPr>
          <a:xfrm>
            <a:off x="4211765" y="3478080"/>
            <a:ext cx="3134811" cy="423885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robot_state_publisher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仅订阅可信 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JointState</a:t>
            </a:r>
            <a:r>
              <a:rPr lang="en-US" altLang="zh-CN" sz="1013" b="1" dirty="0">
                <a:solidFill>
                  <a:schemeClr val="tx1"/>
                </a:solidFill>
              </a:rPr>
              <a:t> </a:t>
            </a:r>
            <a:r>
              <a:rPr lang="zh-CN" altLang="en-US" sz="1013" b="1" dirty="0">
                <a:solidFill>
                  <a:schemeClr val="tx1"/>
                </a:solidFill>
              </a:rPr>
              <a:t>并更新 </a:t>
            </a:r>
            <a:r>
              <a:rPr lang="en-US" altLang="zh-CN" sz="1013" b="1" dirty="0">
                <a:solidFill>
                  <a:schemeClr val="tx1"/>
                </a:solidFill>
              </a:rPr>
              <a:t>TF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DB17EB2C-DCBE-9305-BC0A-69215362EB27}"/>
              </a:ext>
            </a:extLst>
          </p:cNvPr>
          <p:cNvCxnSpPr>
            <a:cxnSpLocks/>
            <a:stCxn id="20" idx="2"/>
            <a:endCxn id="8" idx="0"/>
          </p:cNvCxnSpPr>
          <p:nvPr/>
        </p:nvCxnSpPr>
        <p:spPr>
          <a:xfrm flipH="1">
            <a:off x="5779166" y="3901965"/>
            <a:ext cx="5" cy="37529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C8DA79F1-3986-B098-65A6-AE27870A2FEB}"/>
              </a:ext>
            </a:extLst>
          </p:cNvPr>
          <p:cNvSpPr txBox="1"/>
          <p:nvPr/>
        </p:nvSpPr>
        <p:spPr>
          <a:xfrm>
            <a:off x="5824695" y="3965505"/>
            <a:ext cx="567784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13" b="1" dirty="0"/>
              <a:t>更新</a:t>
            </a:r>
            <a:r>
              <a:rPr lang="en-US" altLang="zh-CN" sz="1013" b="1" dirty="0"/>
              <a:t>TF</a:t>
            </a:r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89B79860-6A94-DAF1-05FF-C16D9E38C24A}"/>
              </a:ext>
            </a:extLst>
          </p:cNvPr>
          <p:cNvSpPr/>
          <p:nvPr/>
        </p:nvSpPr>
        <p:spPr>
          <a:xfrm>
            <a:off x="7346578" y="2713643"/>
            <a:ext cx="1460838" cy="646591"/>
          </a:xfrm>
          <a:prstGeom prst="lef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13" b="1" dirty="0">
                <a:solidFill>
                  <a:schemeClr val="accent6">
                    <a:lumMod val="75000"/>
                  </a:schemeClr>
                </a:solidFill>
              </a:rPr>
              <a:t>可信输出</a:t>
            </a:r>
            <a:endParaRPr lang="en-US" altLang="zh-CN" sz="1013" b="1" dirty="0">
              <a:solidFill>
                <a:schemeClr val="accent6">
                  <a:lumMod val="75000"/>
                </a:schemeClr>
              </a:solidFill>
            </a:endParaRPr>
          </a:p>
          <a:p>
            <a:pPr algn="ctr"/>
            <a:r>
              <a:rPr lang="zh-CN" altLang="en-US" sz="1013" b="1" dirty="0">
                <a:solidFill>
                  <a:schemeClr val="accent6">
                    <a:lumMod val="75000"/>
                  </a:schemeClr>
                </a:solidFill>
              </a:rPr>
              <a:t>通过校验后转发</a:t>
            </a:r>
          </a:p>
        </p:txBody>
      </p:sp>
      <p:sp>
        <p:nvSpPr>
          <p:cNvPr id="35" name="标注: 左箭头 34">
            <a:extLst>
              <a:ext uri="{FF2B5EF4-FFF2-40B4-BE49-F238E27FC236}">
                <a16:creationId xmlns:a16="http://schemas.microsoft.com/office/drawing/2014/main" id="{5F3C464D-8BBF-233B-9CA6-74AC17992C5D}"/>
              </a:ext>
            </a:extLst>
          </p:cNvPr>
          <p:cNvSpPr/>
          <p:nvPr/>
        </p:nvSpPr>
        <p:spPr>
          <a:xfrm>
            <a:off x="7346566" y="1613254"/>
            <a:ext cx="1567369" cy="949123"/>
          </a:xfrm>
          <a:prstGeom prst="leftArrowCallout">
            <a:avLst>
              <a:gd name="adj1" fmla="val 25000"/>
              <a:gd name="adj2" fmla="val 25000"/>
              <a:gd name="adj3" fmla="val 25000"/>
              <a:gd name="adj4" fmla="val 74268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b="1" dirty="0">
                <a:solidFill>
                  <a:schemeClr val="accent6">
                    <a:lumMod val="75000"/>
                  </a:schemeClr>
                </a:solidFill>
              </a:rPr>
              <a:t>核心检查：</a:t>
            </a:r>
          </a:p>
          <a:p>
            <a:pPr algn="ctr"/>
            <a:r>
              <a:rPr lang="en-US" altLang="zh-CN" sz="1100" b="1" dirty="0">
                <a:solidFill>
                  <a:schemeClr val="accent6">
                    <a:lumMod val="75000"/>
                  </a:schemeClr>
                </a:solidFill>
              </a:rPr>
              <a:t>- </a:t>
            </a:r>
            <a:r>
              <a:rPr lang="zh-CN" altLang="en-US" sz="1100" b="1" dirty="0">
                <a:solidFill>
                  <a:schemeClr val="accent6">
                    <a:lumMod val="75000"/>
                  </a:schemeClr>
                </a:solidFill>
              </a:rPr>
              <a:t>单一 </a:t>
            </a:r>
            <a:r>
              <a:rPr lang="en-US" altLang="zh-CN" sz="1100" b="1" dirty="0">
                <a:solidFill>
                  <a:schemeClr val="accent6">
                    <a:lumMod val="75000"/>
                  </a:schemeClr>
                </a:solidFill>
              </a:rPr>
              <a:t>publisher</a:t>
            </a:r>
          </a:p>
          <a:p>
            <a:pPr algn="ctr"/>
            <a:r>
              <a:rPr lang="en-US" altLang="zh-CN" sz="1100" b="1" dirty="0">
                <a:solidFill>
                  <a:schemeClr val="accent6">
                    <a:lumMod val="75000"/>
                  </a:schemeClr>
                </a:solidFill>
              </a:rPr>
              <a:t>- </a:t>
            </a:r>
            <a:r>
              <a:rPr lang="zh-CN" altLang="en-US" sz="1100" b="1" dirty="0">
                <a:solidFill>
                  <a:schemeClr val="accent6">
                    <a:lumMod val="75000"/>
                  </a:schemeClr>
                </a:solidFill>
              </a:rPr>
              <a:t>时间戳有效</a:t>
            </a:r>
          </a:p>
          <a:p>
            <a:pPr algn="ctr"/>
            <a:r>
              <a:rPr lang="en-US" altLang="zh-CN" sz="1100" b="1" dirty="0">
                <a:solidFill>
                  <a:schemeClr val="accent6">
                    <a:lumMod val="75000"/>
                  </a:schemeClr>
                </a:solidFill>
              </a:rPr>
              <a:t>- </a:t>
            </a:r>
            <a:r>
              <a:rPr lang="zh-CN" altLang="en-US" sz="1100" b="1" dirty="0">
                <a:solidFill>
                  <a:schemeClr val="accent6">
                    <a:lumMod val="75000"/>
                  </a:schemeClr>
                </a:solidFill>
              </a:rPr>
              <a:t>关节名称匹配</a:t>
            </a:r>
          </a:p>
          <a:p>
            <a:pPr algn="ctr"/>
            <a:r>
              <a:rPr lang="en-US" altLang="zh-CN" sz="1100" b="1" dirty="0">
                <a:solidFill>
                  <a:schemeClr val="accent6">
                    <a:lumMod val="75000"/>
                  </a:schemeClr>
                </a:solidFill>
              </a:rPr>
              <a:t>- </a:t>
            </a:r>
            <a:r>
              <a:rPr lang="zh-CN" altLang="en-US" sz="1100" b="1" dirty="0">
                <a:solidFill>
                  <a:schemeClr val="accent6">
                    <a:lumMod val="75000"/>
                  </a:schemeClr>
                </a:solidFill>
              </a:rPr>
              <a:t>关节范围合法</a:t>
            </a:r>
          </a:p>
        </p:txBody>
      </p:sp>
      <p:sp>
        <p:nvSpPr>
          <p:cNvPr id="36" name="流程图: 过程 35">
            <a:extLst>
              <a:ext uri="{FF2B5EF4-FFF2-40B4-BE49-F238E27FC236}">
                <a16:creationId xmlns:a16="http://schemas.microsoft.com/office/drawing/2014/main" id="{05D3B9B4-841E-BDCB-B25D-F9BF41B66977}"/>
              </a:ext>
            </a:extLst>
          </p:cNvPr>
          <p:cNvSpPr/>
          <p:nvPr/>
        </p:nvSpPr>
        <p:spPr>
          <a:xfrm>
            <a:off x="788340" y="3478079"/>
            <a:ext cx="3134811" cy="423885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13" b="1" dirty="0" err="1">
                <a:solidFill>
                  <a:schemeClr val="tx1"/>
                </a:solidFill>
              </a:rPr>
              <a:t>sync_plan_arduino</a:t>
            </a:r>
            <a:endParaRPr lang="en-US" altLang="zh-CN" sz="1013" b="1" dirty="0">
              <a:solidFill>
                <a:schemeClr val="tx1"/>
              </a:solidFill>
            </a:endParaRPr>
          </a:p>
          <a:p>
            <a:pPr algn="ctr"/>
            <a:r>
              <a:rPr lang="zh-CN" altLang="en-US" sz="1013" b="1" dirty="0">
                <a:solidFill>
                  <a:schemeClr val="tx1"/>
                </a:solidFill>
              </a:rPr>
              <a:t>仅订阅可信 </a:t>
            </a:r>
            <a:r>
              <a:rPr lang="en-US" altLang="zh-CN" sz="1013" b="1" dirty="0" err="1">
                <a:solidFill>
                  <a:schemeClr val="tx1"/>
                </a:solidFill>
              </a:rPr>
              <a:t>JointState</a:t>
            </a:r>
            <a:endParaRPr lang="zh-CN" altLang="en-US" sz="1013" b="1" dirty="0">
              <a:solidFill>
                <a:schemeClr val="tx1"/>
              </a:solidFill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FD1674F6-5420-4F23-E911-F9CD6415A211}"/>
              </a:ext>
            </a:extLst>
          </p:cNvPr>
          <p:cNvCxnSpPr>
            <a:cxnSpLocks/>
            <a:stCxn id="7" idx="1"/>
            <a:endCxn id="36" idx="0"/>
          </p:cNvCxnSpPr>
          <p:nvPr/>
        </p:nvCxnSpPr>
        <p:spPr>
          <a:xfrm rot="10800000" flipV="1">
            <a:off x="2355746" y="2951531"/>
            <a:ext cx="1856030" cy="526547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33324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1F4E1-5C71-F590-01B5-9C31C4FFF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CDCF61AE-00D2-5269-673A-744701A61288}"/>
              </a:ext>
            </a:extLst>
          </p:cNvPr>
          <p:cNvSpPr/>
          <p:nvPr/>
        </p:nvSpPr>
        <p:spPr>
          <a:xfrm>
            <a:off x="247851" y="417958"/>
            <a:ext cx="3075212" cy="1039135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实机闭环验证</a:t>
            </a:r>
          </a:p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从状态链扩展到真实执行层验证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CA8F415-8E57-74CB-A285-C35DFB31C603}"/>
              </a:ext>
            </a:extLst>
          </p:cNvPr>
          <p:cNvSpPr txBox="1"/>
          <p:nvPr/>
        </p:nvSpPr>
        <p:spPr>
          <a:xfrm>
            <a:off x="89209" y="0"/>
            <a:ext cx="29270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chemeClr val="bg2">
                    <a:lumMod val="75000"/>
                  </a:schemeClr>
                </a:solidFill>
              </a:rPr>
              <a:t>短期可做</a:t>
            </a:r>
            <a:endParaRPr lang="en-US" altLang="zh-CN" sz="1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74328816-97CD-2EB6-C711-FA6F19AD6FA3}"/>
              </a:ext>
            </a:extLst>
          </p:cNvPr>
          <p:cNvSpPr txBox="1"/>
          <p:nvPr/>
        </p:nvSpPr>
        <p:spPr>
          <a:xfrm>
            <a:off x="89209" y="1775703"/>
            <a:ext cx="29270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chemeClr val="bg2">
                    <a:lumMod val="75000"/>
                  </a:schemeClr>
                </a:solidFill>
              </a:rPr>
              <a:t>中期扩展</a:t>
            </a:r>
            <a:endParaRPr lang="en-US" altLang="zh-CN" sz="1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9029A1A-998C-4CFE-53B0-AF80C2ABB7B5}"/>
              </a:ext>
            </a:extLst>
          </p:cNvPr>
          <p:cNvSpPr txBox="1"/>
          <p:nvPr/>
        </p:nvSpPr>
        <p:spPr>
          <a:xfrm>
            <a:off x="89209" y="3481209"/>
            <a:ext cx="29270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chemeClr val="bg2">
                    <a:lumMod val="75000"/>
                  </a:schemeClr>
                </a:solidFill>
              </a:rPr>
              <a:t>长期目标</a:t>
            </a:r>
            <a:endParaRPr lang="en-US" altLang="zh-CN" sz="1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6D4603D5-79B8-F090-94DB-FC87D1F683F7}"/>
              </a:ext>
            </a:extLst>
          </p:cNvPr>
          <p:cNvSpPr/>
          <p:nvPr/>
        </p:nvSpPr>
        <p:spPr>
          <a:xfrm>
            <a:off x="4901627" y="417958"/>
            <a:ext cx="3409749" cy="1039135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MoveIt2 / </a:t>
            </a:r>
            <a:r>
              <a:rPr lang="zh-CN" altLang="en-US" sz="1400" b="1" dirty="0">
                <a:solidFill>
                  <a:schemeClr val="tx1"/>
                </a:solidFill>
              </a:rPr>
              <a:t>轨迹控制链</a:t>
            </a:r>
          </a:p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从状态链扩展到轨迹链、规划链与控制链</a:t>
            </a:r>
          </a:p>
        </p:txBody>
      </p: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A291ECED-730A-21FE-019B-871D9C4E4229}"/>
              </a:ext>
            </a:extLst>
          </p:cNvPr>
          <p:cNvSpPr/>
          <p:nvPr/>
        </p:nvSpPr>
        <p:spPr>
          <a:xfrm>
            <a:off x="247850" y="2183304"/>
            <a:ext cx="3528696" cy="1053746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SROS2 / DDS Security</a:t>
            </a:r>
          </a:p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从应用层原型升级到正式中间件安全机制</a:t>
            </a:r>
          </a:p>
        </p:txBody>
      </p:sp>
      <p:sp>
        <p:nvSpPr>
          <p:cNvPr id="14" name="流程图: 过程 13">
            <a:extLst>
              <a:ext uri="{FF2B5EF4-FFF2-40B4-BE49-F238E27FC236}">
                <a16:creationId xmlns:a16="http://schemas.microsoft.com/office/drawing/2014/main" id="{0C50283F-499C-8D8C-CB59-FE21A0BD833A}"/>
              </a:ext>
            </a:extLst>
          </p:cNvPr>
          <p:cNvSpPr/>
          <p:nvPr/>
        </p:nvSpPr>
        <p:spPr>
          <a:xfrm>
            <a:off x="4901627" y="2183304"/>
            <a:ext cx="3194159" cy="1053746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多机器人与更多 </a:t>
            </a:r>
            <a:r>
              <a:rPr lang="en-US" altLang="zh-CN" sz="1400" b="1" dirty="0">
                <a:solidFill>
                  <a:schemeClr val="tx1"/>
                </a:solidFill>
              </a:rPr>
              <a:t>ROS2 </a:t>
            </a:r>
            <a:r>
              <a:rPr lang="zh-CN" altLang="en-US" sz="1400" b="1" dirty="0">
                <a:solidFill>
                  <a:schemeClr val="tx1"/>
                </a:solidFill>
              </a:rPr>
              <a:t>接口</a:t>
            </a:r>
          </a:p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扩展到协同场景与更多关键接口</a:t>
            </a:r>
          </a:p>
        </p:txBody>
      </p:sp>
      <p:sp>
        <p:nvSpPr>
          <p:cNvPr id="16" name="流程图: 过程 15">
            <a:extLst>
              <a:ext uri="{FF2B5EF4-FFF2-40B4-BE49-F238E27FC236}">
                <a16:creationId xmlns:a16="http://schemas.microsoft.com/office/drawing/2014/main" id="{10B424E2-A2A5-C9F0-9ECC-2DB9342EA348}"/>
              </a:ext>
            </a:extLst>
          </p:cNvPr>
          <p:cNvSpPr/>
          <p:nvPr/>
        </p:nvSpPr>
        <p:spPr>
          <a:xfrm>
            <a:off x="247850" y="3907569"/>
            <a:ext cx="7929710" cy="871546"/>
          </a:xfrm>
          <a:prstGeom prst="flowChartProcess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更高程度自动化评估</a:t>
            </a:r>
          </a:p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将实验复现、规则推理、策略判定、防护验证进一步联动</a:t>
            </a:r>
          </a:p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核心关注：形成更系统的自动化机器人攻击面分析与安全评估流程</a:t>
            </a:r>
          </a:p>
        </p:txBody>
      </p:sp>
      <p:sp>
        <p:nvSpPr>
          <p:cNvPr id="17" name="箭头: 下 16">
            <a:extLst>
              <a:ext uri="{FF2B5EF4-FFF2-40B4-BE49-F238E27FC236}">
                <a16:creationId xmlns:a16="http://schemas.microsoft.com/office/drawing/2014/main" id="{A2A06FD4-01A5-DFB2-A3A6-E07D30B4ED62}"/>
              </a:ext>
            </a:extLst>
          </p:cNvPr>
          <p:cNvSpPr/>
          <p:nvPr/>
        </p:nvSpPr>
        <p:spPr>
          <a:xfrm>
            <a:off x="4021941" y="1561171"/>
            <a:ext cx="317145" cy="622133"/>
          </a:xfrm>
          <a:prstGeom prst="down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箭头: 下 17">
            <a:extLst>
              <a:ext uri="{FF2B5EF4-FFF2-40B4-BE49-F238E27FC236}">
                <a16:creationId xmlns:a16="http://schemas.microsoft.com/office/drawing/2014/main" id="{4752BC4D-69BE-70D7-1DE1-FEA1005CEEF3}"/>
              </a:ext>
            </a:extLst>
          </p:cNvPr>
          <p:cNvSpPr/>
          <p:nvPr/>
        </p:nvSpPr>
        <p:spPr>
          <a:xfrm>
            <a:off x="4141315" y="3170143"/>
            <a:ext cx="317145" cy="622133"/>
          </a:xfrm>
          <a:prstGeom prst="downArrow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0576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421</TotalTime>
  <Words>706</Words>
  <Application>Microsoft Office PowerPoint</Application>
  <PresentationFormat>全屏显示(16:9)</PresentationFormat>
  <Paragraphs>208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Wenshuo Wang</dc:creator>
  <cp:lastModifiedBy>Wenshuo Wang</cp:lastModifiedBy>
  <cp:revision>123</cp:revision>
  <dcterms:created xsi:type="dcterms:W3CDTF">2026-05-12T05:24:43Z</dcterms:created>
  <dcterms:modified xsi:type="dcterms:W3CDTF">2026-05-12T14:20:19Z</dcterms:modified>
</cp:coreProperties>
</file>