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76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19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681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84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94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90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93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6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2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7D2E4-DC07-49FA-8B27-5EDAB5377D6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F225-F82B-43B1-A0AB-D09A391D6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1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A1D28FA6-81F6-5D7E-3E64-C9F79F795ACE}"/>
              </a:ext>
            </a:extLst>
          </p:cNvPr>
          <p:cNvSpPr/>
          <p:nvPr/>
        </p:nvSpPr>
        <p:spPr>
          <a:xfrm>
            <a:off x="227063" y="210137"/>
            <a:ext cx="3134822" cy="693174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joint_state_publisher_gui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发布关节状态 </a:t>
            </a:r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403ACB7D-AF81-5BEF-D564-3A9C1BE9C4D0}"/>
              </a:ext>
            </a:extLst>
          </p:cNvPr>
          <p:cNvSpPr/>
          <p:nvPr/>
        </p:nvSpPr>
        <p:spPr>
          <a:xfrm>
            <a:off x="227065" y="1237381"/>
            <a:ext cx="3145094" cy="69317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</a:t>
            </a:r>
            <a:r>
              <a:rPr lang="en-US" altLang="zh-CN" sz="1013" b="1" dirty="0" err="1">
                <a:solidFill>
                  <a:schemeClr val="tx1"/>
                </a:solidFill>
              </a:rPr>
              <a:t>joint_states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类型：</a:t>
            </a:r>
            <a:r>
              <a:rPr lang="en-US" altLang="zh-CN" sz="1013" b="1" dirty="0" err="1">
                <a:solidFill>
                  <a:schemeClr val="tx1"/>
                </a:solidFill>
              </a:rPr>
              <a:t>sensor_msgs</a:t>
            </a:r>
            <a:r>
              <a:rPr lang="en-US" altLang="zh-CN" sz="1013" b="1" dirty="0">
                <a:solidFill>
                  <a:schemeClr val="tx1"/>
                </a:solidFill>
              </a:rPr>
              <a:t>/msg/</a:t>
            </a:r>
            <a:r>
              <a:rPr lang="en-US" altLang="zh-CN" sz="1013" b="1" dirty="0" err="1">
                <a:solidFill>
                  <a:schemeClr val="tx1"/>
                </a:solidFill>
              </a:rPr>
              <a:t>JointState</a:t>
            </a:r>
            <a:r>
              <a:rPr lang="en-US" altLang="zh-CN" sz="1013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561C7E29-2CD1-97E3-2266-FC3142A7D398}"/>
              </a:ext>
            </a:extLst>
          </p:cNvPr>
          <p:cNvSpPr/>
          <p:nvPr/>
        </p:nvSpPr>
        <p:spPr>
          <a:xfrm>
            <a:off x="227065" y="2264624"/>
            <a:ext cx="3134820" cy="693174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robot_state_publisher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根据关节状态计算 </a:t>
            </a:r>
            <a:r>
              <a:rPr lang="en-US" altLang="zh-CN" sz="1013" b="1" dirty="0">
                <a:solidFill>
                  <a:schemeClr val="tx1"/>
                </a:solidFill>
              </a:rPr>
              <a:t>TF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463E8A51-A812-F025-CEE5-423181715F6E}"/>
              </a:ext>
            </a:extLst>
          </p:cNvPr>
          <p:cNvSpPr/>
          <p:nvPr/>
        </p:nvSpPr>
        <p:spPr>
          <a:xfrm>
            <a:off x="227066" y="3304385"/>
            <a:ext cx="3134819" cy="69317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</a:t>
            </a:r>
            <a:r>
              <a:rPr lang="en-US" altLang="zh-CN" sz="1013" b="1" dirty="0" err="1">
                <a:solidFill>
                  <a:schemeClr val="tx1"/>
                </a:solidFill>
              </a:rPr>
              <a:t>tf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类型：</a:t>
            </a:r>
            <a:r>
              <a:rPr lang="en-US" altLang="zh-CN" sz="1013" b="1" dirty="0">
                <a:solidFill>
                  <a:schemeClr val="tx1"/>
                </a:solidFill>
              </a:rPr>
              <a:t>tf2_msgs/msg/</a:t>
            </a:r>
            <a:r>
              <a:rPr lang="en-US" altLang="zh-CN" sz="1013" b="1" dirty="0" err="1">
                <a:solidFill>
                  <a:schemeClr val="tx1"/>
                </a:solidFill>
              </a:rPr>
              <a:t>TFMessage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1E0B39BA-5EF3-5309-0997-D132CD7EC168}"/>
              </a:ext>
            </a:extLst>
          </p:cNvPr>
          <p:cNvSpPr/>
          <p:nvPr/>
        </p:nvSpPr>
        <p:spPr>
          <a:xfrm>
            <a:off x="227072" y="4343867"/>
            <a:ext cx="3134813" cy="693174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Rviz</a:t>
            </a:r>
          </a:p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显示机械臂姿态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7A40787-9B14-5363-41AB-1866AA7E902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794476" y="3997559"/>
            <a:ext cx="3" cy="34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54A0608-B84B-DCE6-2D9B-44D84855057C}"/>
              </a:ext>
            </a:extLst>
          </p:cNvPr>
          <p:cNvSpPr txBox="1"/>
          <p:nvPr/>
        </p:nvSpPr>
        <p:spPr>
          <a:xfrm>
            <a:off x="1863801" y="925588"/>
            <a:ext cx="106311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 b="1" dirty="0"/>
              <a:t>发布 </a:t>
            </a:r>
            <a:r>
              <a:rPr lang="en-US" altLang="zh-CN" sz="1013" b="1" dirty="0" err="1"/>
              <a:t>JointState</a:t>
            </a:r>
            <a:endParaRPr lang="en-US" altLang="zh-CN" sz="1013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BF744E0-A78A-3FF0-EB8A-AC6A5B67D96A}"/>
              </a:ext>
            </a:extLst>
          </p:cNvPr>
          <p:cNvSpPr txBox="1"/>
          <p:nvPr/>
        </p:nvSpPr>
        <p:spPr>
          <a:xfrm>
            <a:off x="1863801" y="1941420"/>
            <a:ext cx="44435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 b="1" dirty="0"/>
              <a:t>订阅</a:t>
            </a:r>
            <a:endParaRPr lang="en-US" altLang="zh-CN" sz="1013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87045C-FC58-D9FC-AD3A-2F348AB87C71}"/>
              </a:ext>
            </a:extLst>
          </p:cNvPr>
          <p:cNvSpPr txBox="1"/>
          <p:nvPr/>
        </p:nvSpPr>
        <p:spPr>
          <a:xfrm>
            <a:off x="1863801" y="3004005"/>
            <a:ext cx="617477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 b="1" dirty="0"/>
              <a:t>发布 </a:t>
            </a:r>
            <a:r>
              <a:rPr lang="en-US" altLang="zh-CN" sz="1013" b="1" dirty="0"/>
              <a:t>TF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D67406C-6852-EB7B-BCBF-7096D23AEAD2}"/>
              </a:ext>
            </a:extLst>
          </p:cNvPr>
          <p:cNvSpPr txBox="1"/>
          <p:nvPr/>
        </p:nvSpPr>
        <p:spPr>
          <a:xfrm>
            <a:off x="1838962" y="4020663"/>
            <a:ext cx="44435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 b="1" dirty="0"/>
              <a:t>订阅</a:t>
            </a:r>
            <a:endParaRPr lang="en-US" altLang="zh-CN" sz="1013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7FC2D14-44DE-102F-2842-80B9BFCB39D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794475" y="2957798"/>
            <a:ext cx="1" cy="346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B8374E7-407C-EF0A-FF67-0F7C3710139A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794475" y="1930555"/>
            <a:ext cx="5137" cy="3340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F9A3DA29-79F2-C557-D012-E2571E8D0B9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794474" y="903311"/>
            <a:ext cx="5138" cy="3340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箭头: 左 86">
            <a:extLst>
              <a:ext uri="{FF2B5EF4-FFF2-40B4-BE49-F238E27FC236}">
                <a16:creationId xmlns:a16="http://schemas.microsoft.com/office/drawing/2014/main" id="{5885161F-786F-36A7-3875-447F7E0CEC9A}"/>
              </a:ext>
            </a:extLst>
          </p:cNvPr>
          <p:cNvSpPr/>
          <p:nvPr/>
        </p:nvSpPr>
        <p:spPr>
          <a:xfrm>
            <a:off x="3361886" y="1306320"/>
            <a:ext cx="1460838" cy="567813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3" b="1" dirty="0">
                <a:solidFill>
                  <a:srgbClr val="FF0000"/>
                </a:solidFill>
              </a:rPr>
              <a:t>关键攻击面</a:t>
            </a:r>
          </a:p>
        </p:txBody>
      </p:sp>
    </p:spTree>
    <p:extLst>
      <p:ext uri="{BB962C8B-B14F-4D97-AF65-F5344CB8AC3E}">
        <p14:creationId xmlns:p14="http://schemas.microsoft.com/office/powerpoint/2010/main" val="3018635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48CA-1256-7E27-165C-3781474E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D7692683-D935-9909-373B-CBBE80C41550}"/>
              </a:ext>
            </a:extLst>
          </p:cNvPr>
          <p:cNvSpPr/>
          <p:nvPr/>
        </p:nvSpPr>
        <p:spPr>
          <a:xfrm>
            <a:off x="144097" y="1412487"/>
            <a:ext cx="1060236" cy="1570644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事实输入层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Facts</a:t>
            </a:r>
          </a:p>
          <a:p>
            <a:pPr algn="ctr"/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主机</a:t>
            </a:r>
            <a:r>
              <a:rPr lang="en-US" altLang="zh-CN" sz="1013" b="1" dirty="0">
                <a:solidFill>
                  <a:schemeClr val="tx1"/>
                </a:solidFill>
              </a:rPr>
              <a:t>/</a:t>
            </a:r>
            <a:r>
              <a:rPr lang="zh-CN" altLang="en-US" sz="1013" b="1" dirty="0">
                <a:solidFill>
                  <a:schemeClr val="tx1"/>
                </a:solidFill>
              </a:rPr>
              <a:t>节点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topic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发布订阅关系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消息类型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攻击者能力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3E737F89-BF41-B1A8-1E55-6786A212B3F1}"/>
              </a:ext>
            </a:extLst>
          </p:cNvPr>
          <p:cNvSpPr/>
          <p:nvPr/>
        </p:nvSpPr>
        <p:spPr>
          <a:xfrm>
            <a:off x="1915441" y="1412487"/>
            <a:ext cx="1060236" cy="157064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规则推理层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Rules</a:t>
            </a:r>
          </a:p>
          <a:p>
            <a:pPr algn="ctr"/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枚举</a:t>
            </a:r>
            <a:r>
              <a:rPr lang="en-US" altLang="zh-CN" sz="1013" b="1" dirty="0">
                <a:solidFill>
                  <a:schemeClr val="tx1"/>
                </a:solidFill>
              </a:rPr>
              <a:t>topic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学习消息结构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伪造状态消息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状态传播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zh-CN" altLang="en-US" sz="1013" b="1" dirty="0">
                <a:solidFill>
                  <a:schemeClr val="tx1"/>
                </a:solidFill>
              </a:rPr>
              <a:t>竞争性发布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72BC2A6B-8796-7869-2EF1-7251FF845F07}"/>
              </a:ext>
            </a:extLst>
          </p:cNvPr>
          <p:cNvSpPr/>
          <p:nvPr/>
        </p:nvSpPr>
        <p:spPr>
          <a:xfrm>
            <a:off x="3686785" y="1412487"/>
            <a:ext cx="1060236" cy="157064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攻击链查询层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Queries</a:t>
            </a:r>
          </a:p>
          <a:p>
            <a:pPr algn="ctr"/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en-US" altLang="zh-CN" sz="1013" b="1" dirty="0" err="1">
                <a:solidFill>
                  <a:schemeClr val="tx1"/>
                </a:solidFill>
              </a:rPr>
              <a:t>misleadPose</a:t>
            </a:r>
            <a:r>
              <a:rPr lang="en-US" altLang="zh-CN" sz="1013" b="1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oscillating...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physical...</a:t>
            </a:r>
          </a:p>
        </p:txBody>
      </p: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0B1E67A9-48FD-EAFB-8BAE-AF0AD0967251}"/>
              </a:ext>
            </a:extLst>
          </p:cNvPr>
          <p:cNvSpPr/>
          <p:nvPr/>
        </p:nvSpPr>
        <p:spPr>
          <a:xfrm>
            <a:off x="5516031" y="1423250"/>
            <a:ext cx="1060236" cy="1570644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策略判断层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Policy Violation</a:t>
            </a:r>
          </a:p>
          <a:p>
            <a:pPr algn="ctr"/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publish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destabilize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influence</a:t>
            </a:r>
          </a:p>
        </p:txBody>
      </p: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5D644D2E-5F4E-A55D-BEED-33DE65259603}"/>
              </a:ext>
            </a:extLst>
          </p:cNvPr>
          <p:cNvSpPr/>
          <p:nvPr/>
        </p:nvSpPr>
        <p:spPr>
          <a:xfrm>
            <a:off x="7477779" y="1412487"/>
            <a:ext cx="1190436" cy="1570644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13" b="1" dirty="0">
                <a:solidFill>
                  <a:schemeClr val="tx1"/>
                </a:solidFill>
              </a:rPr>
              <a:t>防护对照层</a:t>
            </a:r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Defense Compare</a:t>
            </a:r>
          </a:p>
          <a:p>
            <a:pPr algn="ctr"/>
            <a:endParaRPr lang="en-US" altLang="zh-CN" sz="1013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en-US" altLang="zh-CN" sz="1013" b="1" dirty="0" err="1">
                <a:solidFill>
                  <a:schemeClr val="tx1"/>
                </a:solidFill>
              </a:rPr>
              <a:t>topicAuth</a:t>
            </a:r>
            <a:r>
              <a:rPr lang="en-US" altLang="zh-CN" sz="1013" b="1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en-US" altLang="zh-CN" sz="1013" b="1" dirty="0" err="1">
                <a:solidFill>
                  <a:schemeClr val="tx1"/>
                </a:solidFill>
              </a:rPr>
              <a:t>publisherACL</a:t>
            </a:r>
            <a:r>
              <a:rPr lang="en-US" altLang="zh-CN" sz="1013" b="1" dirty="0">
                <a:solidFill>
                  <a:schemeClr val="tx1"/>
                </a:solidFill>
              </a:rPr>
              <a:t>…</a:t>
            </a:r>
          </a:p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- </a:t>
            </a:r>
            <a:r>
              <a:rPr lang="en-US" altLang="zh-CN" sz="1013" b="1" dirty="0" err="1">
                <a:solidFill>
                  <a:schemeClr val="tx1"/>
                </a:solidFill>
              </a:rPr>
              <a:t>defenseEff</a:t>
            </a:r>
            <a:r>
              <a:rPr lang="en-US" altLang="zh-CN" sz="1013" b="1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04165B2-CA32-369C-D31F-E62628887ADE}"/>
              </a:ext>
            </a:extLst>
          </p:cNvPr>
          <p:cNvCxnSpPr>
            <a:stCxn id="2" idx="3"/>
            <a:endCxn id="7" idx="1"/>
          </p:cNvCxnSpPr>
          <p:nvPr/>
        </p:nvCxnSpPr>
        <p:spPr>
          <a:xfrm>
            <a:off x="1204333" y="2197809"/>
            <a:ext cx="7111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797336E-7BE0-8F38-6A39-D630D6A8FFB6}"/>
              </a:ext>
            </a:extLst>
          </p:cNvPr>
          <p:cNvSpPr txBox="1"/>
          <p:nvPr/>
        </p:nvSpPr>
        <p:spPr>
          <a:xfrm>
            <a:off x="1201570" y="195158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规则建模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83191EB-9558-588F-F7D8-BAD48434EEA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975677" y="2197809"/>
            <a:ext cx="7111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1E39AB2-9EAB-3AF1-7D48-4EEB820DD1B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747021" y="2197809"/>
            <a:ext cx="769010" cy="10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3489791-FB40-EBFB-80C9-0C0347AFC9E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6576267" y="2197809"/>
            <a:ext cx="901512" cy="10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89D9DBB-A7FD-7AB6-34B9-E3F93DCEB22C}"/>
              </a:ext>
            </a:extLst>
          </p:cNvPr>
          <p:cNvSpPr txBox="1"/>
          <p:nvPr/>
        </p:nvSpPr>
        <p:spPr>
          <a:xfrm>
            <a:off x="2975677" y="195158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推理得到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2BBCDB-7411-CC22-C346-C20D5A170831}"/>
              </a:ext>
            </a:extLst>
          </p:cNvPr>
          <p:cNvSpPr txBox="1"/>
          <p:nvPr/>
        </p:nvSpPr>
        <p:spPr>
          <a:xfrm>
            <a:off x="4747021" y="1955547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进一步判断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C0624B-5DBA-3A09-3DB8-8C2D47BD8FBA}"/>
              </a:ext>
            </a:extLst>
          </p:cNvPr>
          <p:cNvSpPr txBox="1"/>
          <p:nvPr/>
        </p:nvSpPr>
        <p:spPr>
          <a:xfrm>
            <a:off x="6542755" y="1951586"/>
            <a:ext cx="9685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加入防护条件</a:t>
            </a:r>
          </a:p>
        </p:txBody>
      </p:sp>
    </p:spTree>
    <p:extLst>
      <p:ext uri="{BB962C8B-B14F-4D97-AF65-F5344CB8AC3E}">
        <p14:creationId xmlns:p14="http://schemas.microsoft.com/office/powerpoint/2010/main" val="120647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FDF8-E144-A174-B1CB-AD6BBB2C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AEC95FE3-5A72-1DF5-A65B-26B404C948F4}"/>
              </a:ext>
            </a:extLst>
          </p:cNvPr>
          <p:cNvSpPr/>
          <p:nvPr/>
        </p:nvSpPr>
        <p:spPr>
          <a:xfrm>
            <a:off x="308343" y="971105"/>
            <a:ext cx="1926857" cy="24820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joint_state_publisher_gui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BD9C860D-1E9B-7A53-9E7C-404A98C0ACD9}"/>
              </a:ext>
            </a:extLst>
          </p:cNvPr>
          <p:cNvSpPr/>
          <p:nvPr/>
        </p:nvSpPr>
        <p:spPr>
          <a:xfrm>
            <a:off x="2645145" y="971105"/>
            <a:ext cx="1926855" cy="259761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</a:t>
            </a:r>
            <a:r>
              <a:rPr lang="en-US" altLang="zh-CN" sz="1013" b="1" dirty="0" err="1">
                <a:solidFill>
                  <a:schemeClr val="tx1"/>
                </a:solidFill>
              </a:rPr>
              <a:t>joint_states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614F555-203F-9312-81D5-F3231C2E8F6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4598633" y="1687894"/>
            <a:ext cx="482741" cy="191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14F91142-D333-4A5A-7CFE-93FD6B390373}"/>
              </a:ext>
            </a:extLst>
          </p:cNvPr>
          <p:cNvSpPr txBox="1"/>
          <p:nvPr/>
        </p:nvSpPr>
        <p:spPr>
          <a:xfrm>
            <a:off x="417563" y="462286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 b="1" dirty="0"/>
              <a:t>未防护</a:t>
            </a:r>
            <a:endParaRPr lang="en-US" altLang="zh-CN" sz="1013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EA88817-AED2-31CD-27CE-F26496C5E4C5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3635206" y="1211706"/>
            <a:ext cx="2382964" cy="3654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3D4C473-B85B-7024-9D3E-9333A4EE351D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572000" y="1087602"/>
            <a:ext cx="482741" cy="133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2E07893-9D6E-EAE5-BBD1-19B8B14DABD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235200" y="1095210"/>
            <a:ext cx="409945" cy="57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74A8841A-7F3D-C1E8-C5F1-50C43B288767}"/>
              </a:ext>
            </a:extLst>
          </p:cNvPr>
          <p:cNvSpPr/>
          <p:nvPr/>
        </p:nvSpPr>
        <p:spPr>
          <a:xfrm>
            <a:off x="5054741" y="963497"/>
            <a:ext cx="1926857" cy="24820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robot_state_publisher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FA5228B8-5EFA-ADFC-35B1-4CACE4B61FD0}"/>
              </a:ext>
            </a:extLst>
          </p:cNvPr>
          <p:cNvSpPr/>
          <p:nvPr/>
        </p:nvSpPr>
        <p:spPr>
          <a:xfrm>
            <a:off x="2671778" y="1577174"/>
            <a:ext cx="1926855" cy="259761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</a:t>
            </a:r>
            <a:r>
              <a:rPr lang="en-US" altLang="zh-CN" sz="1013" b="1" dirty="0" err="1">
                <a:solidFill>
                  <a:schemeClr val="tx1"/>
                </a:solidFill>
              </a:rPr>
              <a:t>tf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1F45CCC7-FC3F-DB34-BE35-3D1DD223A57F}"/>
              </a:ext>
            </a:extLst>
          </p:cNvPr>
          <p:cNvSpPr/>
          <p:nvPr/>
        </p:nvSpPr>
        <p:spPr>
          <a:xfrm>
            <a:off x="5081374" y="1563789"/>
            <a:ext cx="1926857" cy="24820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RViz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44" name="标注: 上箭头 43">
            <a:extLst>
              <a:ext uri="{FF2B5EF4-FFF2-40B4-BE49-F238E27FC236}">
                <a16:creationId xmlns:a16="http://schemas.microsoft.com/office/drawing/2014/main" id="{ACD65D1B-7500-AA5D-7135-3D660D873409}"/>
              </a:ext>
            </a:extLst>
          </p:cNvPr>
          <p:cNvSpPr/>
          <p:nvPr/>
        </p:nvSpPr>
        <p:spPr>
          <a:xfrm>
            <a:off x="596951" y="1236160"/>
            <a:ext cx="1349640" cy="312615"/>
          </a:xfrm>
          <a:prstGeom prst="up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攻击者（同域接入）</a:t>
            </a:r>
          </a:p>
        </p:txBody>
      </p:sp>
      <p:sp>
        <p:nvSpPr>
          <p:cNvPr id="45" name="标注: 下箭头 44">
            <a:extLst>
              <a:ext uri="{FF2B5EF4-FFF2-40B4-BE49-F238E27FC236}">
                <a16:creationId xmlns:a16="http://schemas.microsoft.com/office/drawing/2014/main" id="{43ABEF3C-EE04-D176-F4E7-D05392873078}"/>
              </a:ext>
            </a:extLst>
          </p:cNvPr>
          <p:cNvSpPr/>
          <p:nvPr/>
        </p:nvSpPr>
        <p:spPr>
          <a:xfrm>
            <a:off x="2803427" y="578782"/>
            <a:ext cx="1607820" cy="377107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恶意消息可直接注入</a:t>
            </a:r>
          </a:p>
        </p:txBody>
      </p:sp>
      <p:sp>
        <p:nvSpPr>
          <p:cNvPr id="46" name="流程图: 过程 45">
            <a:extLst>
              <a:ext uri="{FF2B5EF4-FFF2-40B4-BE49-F238E27FC236}">
                <a16:creationId xmlns:a16="http://schemas.microsoft.com/office/drawing/2014/main" id="{8F53B5A5-EEBC-2190-F666-8847431EC1E6}"/>
              </a:ext>
            </a:extLst>
          </p:cNvPr>
          <p:cNvSpPr/>
          <p:nvPr/>
        </p:nvSpPr>
        <p:spPr>
          <a:xfrm>
            <a:off x="308343" y="2988657"/>
            <a:ext cx="1926857" cy="24820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joint_state_publisher_gui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47" name="流程图: 过程 46">
            <a:extLst>
              <a:ext uri="{FF2B5EF4-FFF2-40B4-BE49-F238E27FC236}">
                <a16:creationId xmlns:a16="http://schemas.microsoft.com/office/drawing/2014/main" id="{040E25D4-8320-E2D1-3788-BF21D0263DAD}"/>
              </a:ext>
            </a:extLst>
          </p:cNvPr>
          <p:cNvSpPr/>
          <p:nvPr/>
        </p:nvSpPr>
        <p:spPr>
          <a:xfrm>
            <a:off x="2645145" y="2988657"/>
            <a:ext cx="2120987" cy="259761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/_</a:t>
            </a:r>
            <a:r>
              <a:rPr lang="en-US" altLang="zh-CN" sz="1013" b="1" dirty="0" err="1">
                <a:solidFill>
                  <a:schemeClr val="tx1"/>
                </a:solidFill>
              </a:rPr>
              <a:t>joint_states_authorized_source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9CED46B-F5D6-F5C9-7BC2-3229B084E30B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4645871" y="4270764"/>
            <a:ext cx="483817" cy="146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EAAD0B2-5262-25BE-7EE0-71F621799D92}"/>
              </a:ext>
            </a:extLst>
          </p:cNvPr>
          <p:cNvSpPr txBox="1"/>
          <p:nvPr/>
        </p:nvSpPr>
        <p:spPr>
          <a:xfrm>
            <a:off x="417563" y="2479838"/>
            <a:ext cx="574196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13" b="1" dirty="0"/>
              <a:t>防护后</a:t>
            </a:r>
            <a:endParaRPr lang="en-US" altLang="zh-CN" sz="1013" b="1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36808DC-A3E9-15E6-746F-EA82FA5E1154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2235199" y="4249181"/>
            <a:ext cx="483817" cy="36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FDA6F126-30A0-F6B1-7FD6-3A923C252900}"/>
              </a:ext>
            </a:extLst>
          </p:cNvPr>
          <p:cNvCxnSpPr>
            <a:cxnSpLocks/>
            <a:stCxn id="47" idx="3"/>
            <a:endCxn id="60" idx="1"/>
          </p:cNvCxnSpPr>
          <p:nvPr/>
        </p:nvCxnSpPr>
        <p:spPr>
          <a:xfrm>
            <a:off x="4766132" y="3118538"/>
            <a:ext cx="409945" cy="57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5FD62E2-627F-5BFC-5123-EE5359225E5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2235200" y="3112762"/>
            <a:ext cx="409945" cy="57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流程图: 过程 52">
            <a:extLst>
              <a:ext uri="{FF2B5EF4-FFF2-40B4-BE49-F238E27FC236}">
                <a16:creationId xmlns:a16="http://schemas.microsoft.com/office/drawing/2014/main" id="{3ABA17EA-5D60-1573-C987-59C92E658B7C}"/>
              </a:ext>
            </a:extLst>
          </p:cNvPr>
          <p:cNvSpPr/>
          <p:nvPr/>
        </p:nvSpPr>
        <p:spPr>
          <a:xfrm>
            <a:off x="308342" y="4125076"/>
            <a:ext cx="1926857" cy="24820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robot_state_publisher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54" name="流程图: 过程 53">
            <a:extLst>
              <a:ext uri="{FF2B5EF4-FFF2-40B4-BE49-F238E27FC236}">
                <a16:creationId xmlns:a16="http://schemas.microsoft.com/office/drawing/2014/main" id="{57206966-202E-3B1D-3C16-FD7D831F7231}"/>
              </a:ext>
            </a:extLst>
          </p:cNvPr>
          <p:cNvSpPr/>
          <p:nvPr/>
        </p:nvSpPr>
        <p:spPr>
          <a:xfrm>
            <a:off x="2719016" y="4155527"/>
            <a:ext cx="1926855" cy="259761"/>
          </a:xfrm>
          <a:prstGeom prst="flowChart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</a:t>
            </a:r>
            <a:r>
              <a:rPr lang="en-US" altLang="zh-CN" sz="1013" b="1" dirty="0" err="1">
                <a:solidFill>
                  <a:schemeClr val="tx1"/>
                </a:solidFill>
              </a:rPr>
              <a:t>tf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sp>
        <p:nvSpPr>
          <p:cNvPr id="55" name="流程图: 过程 54">
            <a:extLst>
              <a:ext uri="{FF2B5EF4-FFF2-40B4-BE49-F238E27FC236}">
                <a16:creationId xmlns:a16="http://schemas.microsoft.com/office/drawing/2014/main" id="{3E47B52E-3886-2D65-32C3-0BBE62DA673F}"/>
              </a:ext>
            </a:extLst>
          </p:cNvPr>
          <p:cNvSpPr/>
          <p:nvPr/>
        </p:nvSpPr>
        <p:spPr>
          <a:xfrm>
            <a:off x="5129688" y="4146659"/>
            <a:ext cx="1926857" cy="24820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RViz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56" name="标注: 上箭头 55">
            <a:extLst>
              <a:ext uri="{FF2B5EF4-FFF2-40B4-BE49-F238E27FC236}">
                <a16:creationId xmlns:a16="http://schemas.microsoft.com/office/drawing/2014/main" id="{4AD8EE8F-EB9B-2358-7736-916E08E011B9}"/>
              </a:ext>
            </a:extLst>
          </p:cNvPr>
          <p:cNvSpPr/>
          <p:nvPr/>
        </p:nvSpPr>
        <p:spPr>
          <a:xfrm>
            <a:off x="596951" y="3253712"/>
            <a:ext cx="1349640" cy="312615"/>
          </a:xfrm>
          <a:prstGeom prst="up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攻击者（同域接入）</a:t>
            </a:r>
          </a:p>
        </p:txBody>
      </p:sp>
      <p:sp>
        <p:nvSpPr>
          <p:cNvPr id="60" name="流程图: 过程 59">
            <a:extLst>
              <a:ext uri="{FF2B5EF4-FFF2-40B4-BE49-F238E27FC236}">
                <a16:creationId xmlns:a16="http://schemas.microsoft.com/office/drawing/2014/main" id="{AA6C68BE-8B12-4FCB-B814-6945DABBF918}"/>
              </a:ext>
            </a:extLst>
          </p:cNvPr>
          <p:cNvSpPr/>
          <p:nvPr/>
        </p:nvSpPr>
        <p:spPr>
          <a:xfrm>
            <a:off x="5176077" y="3000209"/>
            <a:ext cx="1926857" cy="248209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 err="1">
                <a:solidFill>
                  <a:schemeClr val="tx1"/>
                </a:solidFill>
              </a:rPr>
              <a:t>trusted_joint_state_filter</a:t>
            </a:r>
            <a:endParaRPr lang="zh-CN" altLang="en-US" sz="1013" b="1" dirty="0">
              <a:solidFill>
                <a:schemeClr val="tx1"/>
              </a:solidFill>
            </a:endParaRPr>
          </a:p>
        </p:txBody>
      </p:sp>
      <p:sp>
        <p:nvSpPr>
          <p:cNvPr id="65" name="流程图: 过程 64">
            <a:extLst>
              <a:ext uri="{FF2B5EF4-FFF2-40B4-BE49-F238E27FC236}">
                <a16:creationId xmlns:a16="http://schemas.microsoft.com/office/drawing/2014/main" id="{903EA756-103C-D818-233F-17912F114D3D}"/>
              </a:ext>
            </a:extLst>
          </p:cNvPr>
          <p:cNvSpPr/>
          <p:nvPr/>
        </p:nvSpPr>
        <p:spPr>
          <a:xfrm>
            <a:off x="2703372" y="3578525"/>
            <a:ext cx="2120987" cy="259761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13" b="1" dirty="0">
                <a:solidFill>
                  <a:schemeClr val="tx1"/>
                </a:solidFill>
              </a:rPr>
              <a:t>/_</a:t>
            </a:r>
            <a:r>
              <a:rPr lang="en-US" altLang="zh-CN" sz="1013" b="1" dirty="0" err="1">
                <a:solidFill>
                  <a:schemeClr val="tx1"/>
                </a:solidFill>
              </a:rPr>
              <a:t>joint_states_trusted</a:t>
            </a:r>
            <a:endParaRPr lang="en-US" altLang="zh-CN" sz="1013" b="1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F28FA7B-45A9-0B69-83EA-E37ABA9C65A8}"/>
              </a:ext>
            </a:extLst>
          </p:cNvPr>
          <p:cNvCxnSpPr>
            <a:cxnSpLocks/>
            <a:stCxn id="60" idx="2"/>
            <a:endCxn id="65" idx="3"/>
          </p:cNvCxnSpPr>
          <p:nvPr/>
        </p:nvCxnSpPr>
        <p:spPr>
          <a:xfrm flipH="1">
            <a:off x="4824359" y="3248418"/>
            <a:ext cx="1315147" cy="4599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6B33A9D-58E6-58B6-2C6D-F3D2ECA9F5DE}"/>
              </a:ext>
            </a:extLst>
          </p:cNvPr>
          <p:cNvCxnSpPr>
            <a:cxnSpLocks/>
            <a:stCxn id="65" idx="1"/>
            <a:endCxn id="53" idx="0"/>
          </p:cNvCxnSpPr>
          <p:nvPr/>
        </p:nvCxnSpPr>
        <p:spPr>
          <a:xfrm flipH="1">
            <a:off x="1271771" y="3708406"/>
            <a:ext cx="1431601" cy="4166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标注: 下箭头 95">
            <a:extLst>
              <a:ext uri="{FF2B5EF4-FFF2-40B4-BE49-F238E27FC236}">
                <a16:creationId xmlns:a16="http://schemas.microsoft.com/office/drawing/2014/main" id="{FA101C5E-2AF6-F20A-2DE6-E649E3029E8A}"/>
              </a:ext>
            </a:extLst>
          </p:cNvPr>
          <p:cNvSpPr/>
          <p:nvPr/>
        </p:nvSpPr>
        <p:spPr>
          <a:xfrm>
            <a:off x="5335595" y="2621611"/>
            <a:ext cx="1607820" cy="377107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可信过滤边界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97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0BF03-717F-AD51-261A-32BB78DA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74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0FA7-66B9-687B-16BE-83478BC4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33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</TotalTime>
  <Words>226</Words>
  <Application>Microsoft Office PowerPoint</Application>
  <PresentationFormat>全屏显示(16:9)</PresentationFormat>
  <Paragraphs>71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Wenshuo Wang</dc:creator>
  <cp:lastModifiedBy>Wenshuo Wang</cp:lastModifiedBy>
  <cp:revision>34</cp:revision>
  <dcterms:created xsi:type="dcterms:W3CDTF">2026-05-12T05:24:43Z</dcterms:created>
  <dcterms:modified xsi:type="dcterms:W3CDTF">2026-05-12T06:41:46Z</dcterms:modified>
</cp:coreProperties>
</file>